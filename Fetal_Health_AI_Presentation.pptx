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274" y="90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1123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stating the project name and the one-line pitch: this is a full-stack AI system that reads CTG (cardiotocography) data and predicts fetal health status, then explains that prediction in plain language using Generative AI. Mention the four pillars: Machine Learning (classification), Generative AI (explanation), a React/FastAPI/PostgreSQL full-stack app, and that this is an academic prototype, not a certified medical device — that disclaimer matters and should be said out loud early.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CTG in one sentence: it's a trace of fetal heart rate and uterine contractions over time. The challenge is that a clinician has to weigh five different signals together — baseline heart rate, variability, accelerations, decelerations, and contractions — to reach one judgement. That's exactly the kind of multi-parameter pattern classification ML is good at. The motivation slide bridges into 'so we built a system that does this consistently and explains itself.'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objectives as one continuous pipeline: model -&gt; interface -&gt; API -&gt; storage -&gt; confidence/factors -&gt; GenAI explanation -&gt; PDF report. That ordering is deliberate — it's the same order data moves through the app. For features, don't read all six — pick two to talk through: ML Prediction (the core) and GenAI Explanation (the differentiator), and just point at the rest.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diagram top to bottom as you talk: user logs in through React, which calls FastAPI over REST. FastAPI is the hub — it talks to three things: PostgreSQL for storage, the trained ML model for the prediction, and the Gemini API for the explanation. Everything converges into one assessment result, which can also be exported as a PDF report. Emphasize that FastAPI, not the frontend, owns all the sensitive calls (DB, ML, Gemini key) — that's a deliberate security boundary.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three target classes and what they mean clinically at a glance: Normal is healthy, Suspect needs a closer look, Pathological is high-risk. Then explain the model choice logic: start simple with Logistic Regression as a baseline, use Decision Tree for interpretability, and land on Random Forest as the likely production model because it also yields feature importance — which feeds directly into the Explainable AI slide next. Mention XGBoost only as a stretch goal. Close with the pipeline row: this is the standard supervised-learning flow from raw Kaggle data to a serialized model FastAPI can load.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distinct techniques here, and it's easy for a viva panel to conflate them — keep them separate in your explanation. Explainable AI (left) is about the ML model itself: which input features (e.g. baseline heart rate, variability) pushed the prediction toward Pathological. Generative AI (right) is a separate, downstream step: it takes that already-computed prediction and factors and turns them into a sentence a non-technical reader can understand. Stress that Gemini never sees raw patient identity and never makes the classification itself — it only explains a decision the ML model already made.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stack, don't read every cell — group it verbally into three layers: a React/Tailwind frontend, a FastAPI + PostgreSQL backend, and two AI layers (Scikit-learn for prediction, Gemini for explanation), plus JWT for security and ReportLab for the PDF output. For the workflow, walk it as the literal user journey during your live demo — login, pick a patient, fill the CTG form, get a prediction, then show the explanation and the PDF. This numbered list should mirror your demo script almost exactly.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live screenshots from our running application, not mockups. Walk through the actual user path: a clinician signs in with hospital-issued credentials (JWT-backed auth), lands on the Surveillance Overview dashboard showing ward-level acuity (how many patients fall in Category I/II/III), then opens New CTG Exam to enter the 21 biophysical parameters — baseline FHR, accelerations, decelerations, STV/LTV variability, and so on. If presenting live, this is the point to switch to the actual demo instead of the screenshot.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for the ML + GenAI story. Left: the raw diagnostic evaluation screen — Category II Suspect, moderate risk, tri-class probabilities, and which biophysical features (Abnormal STV, Mean STV, Abnormal LTV) drove the call. Right: the same result run through Gemini, turned into a structured, readable clinical synthesis — key contributing factors, interpretive observations, and recommended actions, closing with the safety disclaimer. Point out that the disclaimer is non-negotiable and always rendered — this is a decision-support aid, not an autonomous diagnosis.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Results honest and specific: name the actual metrics you evaluated on (accuracy/precision/recall/F1/confusion matrix) rather than claiming a single headline number unless you have one to quote. Limitations should be delivered confidently, not apologetically — every academic prototype has them, and naming them well signals maturity to a viva panel. End on Future Scope to leave the presentation on a forward-looking note, then restate the closing disclaimer line verbatim since it's the one sentence you don't want to paraphrase loosely in front of examiners.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one-line pitch and inviting questions: a full-stack ML + Generative AI system that classifies fetal health from CTG data and explains its own reasoning. Good anticipated questions to be ready for: how the model handles class imbalance in the dataset, why Random Forest over a deep model, how patient data privacy is handled end to end, and what clinical validation would be needed before any real-world use.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3.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6.png"/><Relationship Id="rId5" Type="http://schemas.openxmlformats.org/officeDocument/2006/relationships/image" Target="../media/image8.png"/><Relationship Id="rId10"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9.jpeg"/><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1.jpe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292B"/>
        </a:solidFill>
        <a:effectLst/>
      </p:bgPr>
    </p:bg>
    <p:spTree>
      <p:nvGrpSpPr>
        <p:cNvPr id="1" name=""/>
        <p:cNvGrpSpPr/>
        <p:nvPr/>
      </p:nvGrpSpPr>
      <p:grpSpPr>
        <a:xfrm>
          <a:off x="0" y="0"/>
          <a:ext cx="0" cy="0"/>
          <a:chOff x="0" y="0"/>
          <a:chExt cx="0" cy="0"/>
        </a:xfrm>
      </p:grpSpPr>
      <p:sp>
        <p:nvSpPr>
          <p:cNvPr id="2" name="Shape 0"/>
          <p:cNvSpPr/>
          <p:nvPr/>
        </p:nvSpPr>
        <p:spPr>
          <a:xfrm>
            <a:off x="8778240" y="-1463040"/>
            <a:ext cx="4754880" cy="4754880"/>
          </a:xfrm>
          <a:prstGeom prst="ellipse">
            <a:avLst/>
          </a:prstGeom>
          <a:solidFill>
            <a:srgbClr val="0B3639"/>
          </a:solidFill>
          <a:ln/>
        </p:spPr>
        <p:txBody>
          <a:bodyPr/>
          <a:lstStyle/>
          <a:p>
            <a:endParaRPr lang="en-IN"/>
          </a:p>
        </p:txBody>
      </p:sp>
      <p:sp>
        <p:nvSpPr>
          <p:cNvPr id="3" name="Shape 1"/>
          <p:cNvSpPr/>
          <p:nvPr/>
        </p:nvSpPr>
        <p:spPr>
          <a:xfrm>
            <a:off x="-1280160" y="5120640"/>
            <a:ext cx="3291840" cy="3291840"/>
          </a:xfrm>
          <a:prstGeom prst="ellipse">
            <a:avLst/>
          </a:prstGeom>
          <a:solidFill>
            <a:srgbClr val="0B3639"/>
          </a:solidFill>
          <a:ln/>
        </p:spPr>
        <p:txBody>
          <a:bodyPr/>
          <a:lstStyle/>
          <a:p>
            <a:endParaRPr lang="en-IN"/>
          </a:p>
        </p:txBody>
      </p:sp>
      <p:sp>
        <p:nvSpPr>
          <p:cNvPr id="4" name="Shape 2"/>
          <p:cNvSpPr/>
          <p:nvPr/>
        </p:nvSpPr>
        <p:spPr>
          <a:xfrm>
            <a:off x="5591556" y="640080"/>
            <a:ext cx="1005840" cy="1005840"/>
          </a:xfrm>
          <a:prstGeom prst="ellipse">
            <a:avLst/>
          </a:prstGeom>
          <a:solidFill>
            <a:srgbClr val="FF0000"/>
          </a:solidFill>
          <a:ln/>
        </p:spPr>
        <p:txBody>
          <a:bodyPr/>
          <a:lstStyle/>
          <a:p>
            <a:endParaRPr lang="en-IN"/>
          </a:p>
        </p:txBody>
      </p:sp>
      <p:pic>
        <p:nvPicPr>
          <p:cNvPr id="5" name="Image 0" descr="/home/claude/deck/icons/heartbeat.png"/>
          <p:cNvPicPr>
            <a:picLocks noChangeAspect="1"/>
          </p:cNvPicPr>
          <p:nvPr/>
        </p:nvPicPr>
        <p:blipFill>
          <a:blip r:embed="rId3"/>
          <a:stretch>
            <a:fillRect/>
          </a:stretch>
        </p:blipFill>
        <p:spPr>
          <a:xfrm>
            <a:off x="5817870" y="866394"/>
            <a:ext cx="553212" cy="553212"/>
          </a:xfrm>
          <a:prstGeom prst="rect">
            <a:avLst/>
          </a:prstGeom>
        </p:spPr>
      </p:pic>
      <p:sp>
        <p:nvSpPr>
          <p:cNvPr id="6" name="Text 3"/>
          <p:cNvSpPr txBox="1"/>
          <p:nvPr/>
        </p:nvSpPr>
        <p:spPr>
          <a:xfrm>
            <a:off x="731520" y="1874520"/>
            <a:ext cx="10725912" cy="1371600"/>
          </a:xfrm>
          <a:prstGeom prst="rect">
            <a:avLst/>
          </a:prstGeom>
          <a:noFill/>
          <a:ln/>
        </p:spPr>
        <p:txBody>
          <a:bodyPr wrap="square" lIns="0" tIns="0" rIns="0" bIns="0" rtlCol="0" anchor="t"/>
          <a:lstStyle/>
          <a:p>
            <a:pPr marL="0" indent="0" algn="ctr">
              <a:lnSpc>
                <a:spcPts val="4000"/>
              </a:lnSpc>
              <a:buNone/>
            </a:pPr>
            <a:r>
              <a:rPr lang="en-US" sz="3400" b="1" dirty="0">
                <a:solidFill>
                  <a:srgbClr val="FFFFFF"/>
                </a:solidFill>
                <a:latin typeface="Cambria" pitchFamily="34" charset="0"/>
                <a:ea typeface="Cambria" pitchFamily="34" charset="-122"/>
                <a:cs typeface="Cambria" pitchFamily="34" charset="-120"/>
              </a:rPr>
              <a:t>AI-Based Fetal Health Monitoring</a:t>
            </a:r>
            <a:endParaRPr lang="en-US" sz="3400" dirty="0"/>
          </a:p>
          <a:p>
            <a:pPr marL="0" indent="0" algn="ctr">
              <a:lnSpc>
                <a:spcPts val="4000"/>
              </a:lnSpc>
              <a:buNone/>
            </a:pPr>
            <a:r>
              <a:rPr lang="en-US" sz="3400" b="1" dirty="0">
                <a:solidFill>
                  <a:srgbClr val="FFFFFF"/>
                </a:solidFill>
                <a:latin typeface="Cambria" pitchFamily="34" charset="0"/>
                <a:ea typeface="Cambria" pitchFamily="34" charset="-122"/>
                <a:cs typeface="Cambria" pitchFamily="34" charset="-120"/>
              </a:rPr>
              <a:t>&amp; Risk Prediction System</a:t>
            </a:r>
            <a:endParaRPr lang="en-US" sz="3400" dirty="0"/>
          </a:p>
        </p:txBody>
      </p:sp>
      <p:sp>
        <p:nvSpPr>
          <p:cNvPr id="7" name="Text 4"/>
          <p:cNvSpPr txBox="1"/>
          <p:nvPr/>
        </p:nvSpPr>
        <p:spPr>
          <a:xfrm>
            <a:off x="1097280" y="3246120"/>
            <a:ext cx="9994392" cy="457200"/>
          </a:xfrm>
          <a:prstGeom prst="rect">
            <a:avLst/>
          </a:prstGeom>
          <a:noFill/>
          <a:ln/>
        </p:spPr>
        <p:txBody>
          <a:bodyPr wrap="square" lIns="0" tIns="0" rIns="0" bIns="0" rtlCol="0" anchor="ctr"/>
          <a:lstStyle/>
          <a:p>
            <a:pPr marL="0" indent="0" algn="ctr">
              <a:buNone/>
            </a:pPr>
            <a:r>
              <a:rPr lang="en-US" sz="1600" i="1" dirty="0">
                <a:solidFill>
                  <a:srgbClr val="02C39A"/>
                </a:solidFill>
                <a:latin typeface="Calibri" pitchFamily="34" charset="0"/>
                <a:ea typeface="Calibri" pitchFamily="34" charset="-122"/>
                <a:cs typeface="Calibri" pitchFamily="34" charset="-120"/>
              </a:rPr>
              <a:t>Machine Learning + Generative AI for Cardiotocography (CTG) Analysis</a:t>
            </a:r>
            <a:endParaRPr lang="en-US" sz="1600" dirty="0"/>
          </a:p>
        </p:txBody>
      </p:sp>
      <p:sp>
        <p:nvSpPr>
          <p:cNvPr id="8" name="Shape 5"/>
          <p:cNvSpPr/>
          <p:nvPr/>
        </p:nvSpPr>
        <p:spPr>
          <a:xfrm>
            <a:off x="1737360" y="3977640"/>
            <a:ext cx="8714232" cy="1600200"/>
          </a:xfrm>
          <a:prstGeom prst="roundRect">
            <a:avLst>
              <a:gd name="adj" fmla="val 4571"/>
            </a:avLst>
          </a:prstGeom>
          <a:solidFill>
            <a:srgbClr val="0B3639"/>
          </a:solidFill>
          <a:ln/>
        </p:spPr>
        <p:txBody>
          <a:bodyPr/>
          <a:lstStyle/>
          <a:p>
            <a:endParaRPr lang="en-IN"/>
          </a:p>
        </p:txBody>
      </p:sp>
      <p:sp>
        <p:nvSpPr>
          <p:cNvPr id="9" name="Text 6"/>
          <p:cNvSpPr txBox="1"/>
          <p:nvPr/>
        </p:nvSpPr>
        <p:spPr>
          <a:xfrm>
            <a:off x="1965960" y="4160520"/>
            <a:ext cx="8257032" cy="1280160"/>
          </a:xfrm>
          <a:prstGeom prst="rect">
            <a:avLst/>
          </a:prstGeom>
          <a:noFill/>
          <a:ln/>
        </p:spPr>
        <p:txBody>
          <a:bodyPr wrap="square" lIns="0" tIns="0" rIns="0" bIns="0" rtlCol="0" anchor="t"/>
          <a:lstStyle/>
          <a:p>
            <a:pPr marL="0" indent="0" algn="ctr">
              <a:lnSpc>
                <a:spcPct val="115000"/>
              </a:lnSpc>
              <a:buNone/>
            </a:pPr>
            <a:r>
              <a:rPr lang="en-US" sz="1250" dirty="0">
                <a:solidFill>
                  <a:srgbClr val="BFE3E0"/>
                </a:solidFill>
                <a:latin typeface="Calibri" pitchFamily="34" charset="0"/>
                <a:ea typeface="Calibri" pitchFamily="34" charset="-122"/>
                <a:cs typeface="Calibri" pitchFamily="34" charset="-120"/>
              </a:rPr>
              <a:t>A full-stack healthcare application that classifies fetal condition — Normal, Suspect, or Pathological — from CTG parameters using a trained Machine Learning model, then uses Generative AI to turn that result into a clear, human-readable explanation. Built with React.js, FastAPI, PostgreSQL and Scikit-learn. Intended as an educational decision-support prototype, not a medical diagnosis tool.</a:t>
            </a:r>
            <a:endParaRPr lang="en-US" sz="1250" dirty="0"/>
          </a:p>
        </p:txBody>
      </p:sp>
      <p:sp>
        <p:nvSpPr>
          <p:cNvPr id="10" name="Text 7"/>
          <p:cNvSpPr txBox="1"/>
          <p:nvPr/>
        </p:nvSpPr>
        <p:spPr>
          <a:xfrm>
            <a:off x="454914" y="6240780"/>
            <a:ext cx="10725912" cy="320040"/>
          </a:xfrm>
          <a:prstGeom prst="rect">
            <a:avLst/>
          </a:prstGeom>
          <a:noFill/>
          <a:ln/>
        </p:spPr>
        <p:txBody>
          <a:bodyPr wrap="square" lIns="0" tIns="0" rIns="0" bIns="0" rtlCol="0" anchor="ctr"/>
          <a:lstStyle/>
          <a:p>
            <a:pPr algn="ctr"/>
            <a:r>
              <a:rPr lang="en-US" sz="1100" dirty="0">
                <a:solidFill>
                  <a:srgbClr val="BFE3E0"/>
                </a:solidFill>
                <a:latin typeface="Calibri" pitchFamily="34" charset="0"/>
                <a:ea typeface="Calibri" pitchFamily="34" charset="-122"/>
                <a:cs typeface="Calibri" pitchFamily="34" charset="-120"/>
              </a:rPr>
              <a:t>Presented By  •  Tanish Sharma  •  Sahil Saurav •  Piyush </a:t>
            </a:r>
            <a:r>
              <a:rPr lang="en-US" sz="1100" dirty="0" err="1">
                <a:solidFill>
                  <a:srgbClr val="BFE3E0"/>
                </a:solidFill>
                <a:latin typeface="Calibri" pitchFamily="34" charset="0"/>
                <a:ea typeface="Calibri" pitchFamily="34" charset="-122"/>
                <a:cs typeface="Calibri" pitchFamily="34" charset="-120"/>
              </a:rPr>
              <a:t>Sukhwani</a:t>
            </a:r>
            <a:r>
              <a:rPr lang="en-US" sz="1100" dirty="0">
                <a:solidFill>
                  <a:srgbClr val="BFE3E0"/>
                </a:solidFill>
                <a:latin typeface="Calibri" pitchFamily="34" charset="0"/>
                <a:ea typeface="Calibri" pitchFamily="34" charset="-122"/>
                <a:cs typeface="Calibri" pitchFamily="34" charset="-120"/>
              </a:rPr>
              <a:t> </a:t>
            </a:r>
          </a:p>
        </p:txBody>
      </p:sp>
      <p:sp>
        <p:nvSpPr>
          <p:cNvPr id="12" name="Text 8"/>
          <p:cNvSpPr txBox="1"/>
          <p:nvPr/>
        </p:nvSpPr>
        <p:spPr>
          <a:xfrm>
            <a:off x="11548872" y="6473952"/>
            <a:ext cx="365760" cy="274320"/>
          </a:xfrm>
          <a:prstGeom prst="rect">
            <a:avLst/>
          </a:prstGeom>
          <a:noFill/>
          <a:ln/>
        </p:spPr>
        <p:txBody>
          <a:bodyPr wrap="square" lIns="0" tIns="0" rIns="0" bIns="0" rtlCol="0" anchor="ctr"/>
          <a:lstStyle/>
          <a:p>
            <a:pPr marL="0" indent="0" algn="r">
              <a:buNone/>
            </a:pPr>
            <a:r>
              <a:rPr lang="en-US" sz="1000" dirty="0">
                <a:solidFill>
                  <a:srgbClr val="BFE3E0"/>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AF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85800"/>
          </a:xfrm>
          <a:prstGeom prst="rect">
            <a:avLst/>
          </a:prstGeom>
          <a:noFill/>
          <a:ln/>
        </p:spPr>
        <p:txBody>
          <a:bodyPr wrap="square" lIns="0" tIns="0" rIns="0" bIns="0" rtlCol="0" anchor="ctr"/>
          <a:lstStyle/>
          <a:p>
            <a:pPr marL="0" indent="0" algn="l">
              <a:buNone/>
            </a:pPr>
            <a:r>
              <a:rPr lang="en-US" sz="3000" b="1" dirty="0">
                <a:solidFill>
                  <a:srgbClr val="0E2A2C"/>
                </a:solidFill>
                <a:latin typeface="Cambria" pitchFamily="34" charset="0"/>
                <a:ea typeface="Cambria" pitchFamily="34" charset="-122"/>
                <a:cs typeface="Cambria" pitchFamily="34" charset="-120"/>
              </a:rPr>
              <a:t>Problem Statement &amp; Motivation</a:t>
            </a:r>
            <a:endParaRPr lang="en-US" sz="3000" dirty="0"/>
          </a:p>
        </p:txBody>
      </p:sp>
      <p:sp>
        <p:nvSpPr>
          <p:cNvPr id="3" name="Text 1"/>
          <p:cNvSpPr txBox="1"/>
          <p:nvPr/>
        </p:nvSpPr>
        <p:spPr>
          <a:xfrm>
            <a:off x="548640" y="987552"/>
            <a:ext cx="11091672" cy="365760"/>
          </a:xfrm>
          <a:prstGeom prst="rect">
            <a:avLst/>
          </a:prstGeom>
          <a:noFill/>
          <a:ln/>
        </p:spPr>
        <p:txBody>
          <a:bodyPr wrap="square" lIns="0" tIns="0" rIns="0" bIns="0" rtlCol="0" anchor="ctr"/>
          <a:lstStyle/>
          <a:p>
            <a:pPr marL="0" indent="0" algn="l">
              <a:buNone/>
            </a:pPr>
            <a:r>
              <a:rPr lang="en-US" sz="1300" i="1" dirty="0">
                <a:solidFill>
                  <a:srgbClr val="4E6A6C"/>
                </a:solidFill>
                <a:latin typeface="Calibri" pitchFamily="34" charset="0"/>
                <a:ea typeface="Calibri" pitchFamily="34" charset="-122"/>
                <a:cs typeface="Calibri" pitchFamily="34" charset="-120"/>
              </a:rPr>
              <a:t>Why interpreting CTG data by eye is hard, and what this project sets out to fix</a:t>
            </a:r>
            <a:endParaRPr lang="en-US" sz="1300" dirty="0"/>
          </a:p>
        </p:txBody>
      </p:sp>
      <p:sp>
        <p:nvSpPr>
          <p:cNvPr id="4" name="Shape 2"/>
          <p:cNvSpPr/>
          <p:nvPr/>
        </p:nvSpPr>
        <p:spPr>
          <a:xfrm>
            <a:off x="548640" y="1508760"/>
            <a:ext cx="5943600" cy="4709160"/>
          </a:xfrm>
          <a:prstGeom prst="roundRect">
            <a:avLst>
              <a:gd name="adj" fmla="val 1553"/>
            </a:avLst>
          </a:prstGeom>
          <a:solidFill>
            <a:srgbClr val="FFFFFF"/>
          </a:solidFill>
          <a:ln w="12700">
            <a:solidFill>
              <a:srgbClr val="D9E7E6"/>
            </a:solidFill>
            <a:prstDash val="solid"/>
          </a:ln>
          <a:effectLst>
            <a:outerShdw blurRad="76200" dist="25400" dir="5400000" algn="bl" rotWithShape="0">
              <a:srgbClr val="1B2B2B">
                <a:alpha val="12000"/>
              </a:srgbClr>
            </a:outerShdw>
          </a:effectLst>
        </p:spPr>
        <p:txBody>
          <a:bodyPr/>
          <a:lstStyle/>
          <a:p>
            <a:endParaRPr lang="en-IN"/>
          </a:p>
        </p:txBody>
      </p:sp>
      <p:sp>
        <p:nvSpPr>
          <p:cNvPr id="5" name="Text 3"/>
          <p:cNvSpPr txBox="1"/>
          <p:nvPr/>
        </p:nvSpPr>
        <p:spPr>
          <a:xfrm>
            <a:off x="868680" y="1783080"/>
            <a:ext cx="5303520" cy="320040"/>
          </a:xfrm>
          <a:prstGeom prst="rect">
            <a:avLst/>
          </a:prstGeom>
          <a:noFill/>
          <a:ln/>
        </p:spPr>
        <p:txBody>
          <a:bodyPr wrap="square" lIns="0" tIns="0" rIns="0" bIns="0" rtlCol="0" anchor="ctr"/>
          <a:lstStyle/>
          <a:p>
            <a:pPr marL="0" indent="0" algn="l">
              <a:buNone/>
            </a:pPr>
            <a:r>
              <a:rPr lang="en-US" sz="1500" b="1" dirty="0">
                <a:solidFill>
                  <a:srgbClr val="028090"/>
                </a:solidFill>
                <a:latin typeface="Cambria" pitchFamily="34" charset="0"/>
                <a:ea typeface="Cambria" pitchFamily="34" charset="-122"/>
                <a:cs typeface="Cambria" pitchFamily="34" charset="-120"/>
              </a:rPr>
              <a:t>The Problem</a:t>
            </a:r>
            <a:endParaRPr lang="en-US" sz="1500" dirty="0"/>
          </a:p>
        </p:txBody>
      </p:sp>
      <p:sp>
        <p:nvSpPr>
          <p:cNvPr id="6" name="Text 4"/>
          <p:cNvSpPr txBox="1"/>
          <p:nvPr/>
        </p:nvSpPr>
        <p:spPr>
          <a:xfrm>
            <a:off x="868680" y="2194560"/>
            <a:ext cx="5303520" cy="914400"/>
          </a:xfrm>
          <a:prstGeom prst="rect">
            <a:avLst/>
          </a:prstGeom>
          <a:noFill/>
          <a:ln/>
        </p:spPr>
        <p:txBody>
          <a:bodyPr wrap="square" lIns="0" tIns="0" rIns="0" bIns="0" rtlCol="0" anchor="t"/>
          <a:lstStyle/>
          <a:p>
            <a:pPr marL="0" indent="0">
              <a:lnSpc>
                <a:spcPct val="115000"/>
              </a:lnSpc>
              <a:buNone/>
            </a:pPr>
            <a:r>
              <a:rPr lang="en-US" sz="1300" dirty="0">
                <a:solidFill>
                  <a:srgbClr val="0E2A2C"/>
                </a:solidFill>
                <a:latin typeface="Calibri" pitchFamily="34" charset="0"/>
                <a:ea typeface="Calibri" pitchFamily="34" charset="-122"/>
                <a:cs typeface="Calibri" pitchFamily="34" charset="-120"/>
              </a:rPr>
              <a:t>Fetal health monitoring relies on Cardiotocography (CTG) — a continuous trace of fetal heart rate and uterine activity. Reading it well means weighing several signals together at once, not just one number.</a:t>
            </a:r>
            <a:endParaRPr lang="en-US" sz="1300" dirty="0"/>
          </a:p>
        </p:txBody>
      </p:sp>
      <p:sp>
        <p:nvSpPr>
          <p:cNvPr id="7" name="Text 5"/>
          <p:cNvSpPr txBox="1"/>
          <p:nvPr/>
        </p:nvSpPr>
        <p:spPr>
          <a:xfrm>
            <a:off x="868680" y="3063240"/>
            <a:ext cx="5303520" cy="548640"/>
          </a:xfrm>
          <a:prstGeom prst="rect">
            <a:avLst/>
          </a:prstGeom>
          <a:noFill/>
          <a:ln/>
        </p:spPr>
        <p:txBody>
          <a:bodyPr wrap="square" lIns="0" tIns="0" rIns="0" bIns="0" rtlCol="0" anchor="t"/>
          <a:lstStyle/>
          <a:p>
            <a:pPr marL="0" indent="0">
              <a:lnSpc>
                <a:spcPct val="115000"/>
              </a:lnSpc>
              <a:buNone/>
            </a:pPr>
            <a:r>
              <a:rPr lang="en-US" sz="1300" dirty="0">
                <a:solidFill>
                  <a:srgbClr val="0E2A2C"/>
                </a:solidFill>
                <a:latin typeface="Calibri" pitchFamily="34" charset="0"/>
                <a:ea typeface="Calibri" pitchFamily="34" charset="-122"/>
                <a:cs typeface="Calibri" pitchFamily="34" charset="-120"/>
              </a:rPr>
              <a:t>Doing this consistently, at scale, and explaining the reasoning to a patient is where a software layer can genuinely help.</a:t>
            </a:r>
            <a:endParaRPr lang="en-US" sz="1300" dirty="0"/>
          </a:p>
        </p:txBody>
      </p:sp>
      <p:sp>
        <p:nvSpPr>
          <p:cNvPr id="8" name="Text 6"/>
          <p:cNvSpPr txBox="1"/>
          <p:nvPr/>
        </p:nvSpPr>
        <p:spPr>
          <a:xfrm>
            <a:off x="868680" y="3794760"/>
            <a:ext cx="5303520" cy="320040"/>
          </a:xfrm>
          <a:prstGeom prst="rect">
            <a:avLst/>
          </a:prstGeom>
          <a:noFill/>
          <a:ln/>
        </p:spPr>
        <p:txBody>
          <a:bodyPr wrap="square" lIns="0" tIns="0" rIns="0" bIns="0" rtlCol="0" anchor="ctr"/>
          <a:lstStyle/>
          <a:p>
            <a:pPr marL="0" indent="0" algn="l">
              <a:buNone/>
            </a:pPr>
            <a:r>
              <a:rPr lang="en-US" sz="1500" b="1" dirty="0">
                <a:solidFill>
                  <a:srgbClr val="028090"/>
                </a:solidFill>
                <a:latin typeface="Cambria" pitchFamily="34" charset="0"/>
                <a:ea typeface="Cambria" pitchFamily="34" charset="-122"/>
                <a:cs typeface="Cambria" pitchFamily="34" charset="-120"/>
              </a:rPr>
              <a:t>Motivation</a:t>
            </a:r>
            <a:endParaRPr lang="en-US" sz="1500" dirty="0"/>
          </a:p>
        </p:txBody>
      </p:sp>
      <p:sp>
        <p:nvSpPr>
          <p:cNvPr id="9" name="Text 7"/>
          <p:cNvSpPr txBox="1"/>
          <p:nvPr/>
        </p:nvSpPr>
        <p:spPr>
          <a:xfrm>
            <a:off x="868680" y="4187952"/>
            <a:ext cx="5303520" cy="1737360"/>
          </a:xfrm>
          <a:prstGeom prst="rect">
            <a:avLst/>
          </a:prstGeom>
          <a:noFill/>
          <a:ln/>
        </p:spPr>
        <p:txBody>
          <a:bodyPr wrap="square" lIns="0" tIns="0" rIns="0" bIns="0" rtlCol="0" anchor="t"/>
          <a:lstStyle/>
          <a:p>
            <a:pPr marL="177800" indent="-177800">
              <a:spcAft>
                <a:spcPts val="1000"/>
              </a:spcAft>
              <a:buSzPct val="100000"/>
              <a:buChar char="•"/>
            </a:pPr>
            <a:r>
              <a:rPr lang="en-US" sz="1250" dirty="0">
                <a:solidFill>
                  <a:srgbClr val="0E2A2C"/>
                </a:solidFill>
                <a:latin typeface="Calibri" pitchFamily="34" charset="0"/>
                <a:ea typeface="Calibri" pitchFamily="34" charset="-122"/>
                <a:cs typeface="Calibri" pitchFamily="34" charset="-120"/>
              </a:rPr>
              <a:t>Structure a multi-parameter read into one clear classification (Normal / Suspect / Pathological)</a:t>
            </a:r>
            <a:endParaRPr lang="en-US" sz="1250" dirty="0"/>
          </a:p>
          <a:p>
            <a:pPr marL="177800" indent="-177800">
              <a:spcAft>
                <a:spcPts val="1000"/>
              </a:spcAft>
              <a:buSzPct val="100000"/>
              <a:buChar char="•"/>
            </a:pPr>
            <a:r>
              <a:rPr lang="en-US" sz="1250" dirty="0">
                <a:solidFill>
                  <a:srgbClr val="0E2A2C"/>
                </a:solidFill>
                <a:latin typeface="Calibri" pitchFamily="34" charset="0"/>
                <a:ea typeface="Calibri" pitchFamily="34" charset="-122"/>
                <a:cs typeface="Calibri" pitchFamily="34" charset="-120"/>
              </a:rPr>
              <a:t>Back the prediction with confidence + the factors that drove it — not just a bare label</a:t>
            </a:r>
            <a:endParaRPr lang="en-US" sz="1250" dirty="0"/>
          </a:p>
          <a:p>
            <a:pPr marL="177800" indent="-177800">
              <a:spcAft>
                <a:spcPts val="1000"/>
              </a:spcAft>
              <a:buSzPct val="100000"/>
              <a:buChar char="•"/>
            </a:pPr>
            <a:r>
              <a:rPr lang="en-US" sz="1250" dirty="0">
                <a:solidFill>
                  <a:srgbClr val="0E2A2C"/>
                </a:solidFill>
                <a:latin typeface="Calibri" pitchFamily="34" charset="0"/>
                <a:ea typeface="Calibri" pitchFamily="34" charset="-122"/>
                <a:cs typeface="Calibri" pitchFamily="34" charset="-120"/>
              </a:rPr>
              <a:t>Explain the result in plain language via Generative AI, so it's actually understandable</a:t>
            </a:r>
            <a:endParaRPr lang="en-US" sz="1250" dirty="0"/>
          </a:p>
        </p:txBody>
      </p:sp>
      <p:sp>
        <p:nvSpPr>
          <p:cNvPr id="10" name="Shape 8"/>
          <p:cNvSpPr/>
          <p:nvPr/>
        </p:nvSpPr>
        <p:spPr>
          <a:xfrm>
            <a:off x="6720840" y="1508760"/>
            <a:ext cx="4919472" cy="4709160"/>
          </a:xfrm>
          <a:prstGeom prst="roundRect">
            <a:avLst>
              <a:gd name="adj" fmla="val 1553"/>
            </a:avLst>
          </a:prstGeom>
          <a:solidFill>
            <a:srgbClr val="0B3639"/>
          </a:solidFill>
          <a:ln/>
          <a:effectLst>
            <a:outerShdw blurRad="76200" dist="25400" dir="5400000" algn="bl" rotWithShape="0">
              <a:srgbClr val="1B2B2B">
                <a:alpha val="12000"/>
              </a:srgbClr>
            </a:outerShdw>
          </a:effectLst>
        </p:spPr>
        <p:txBody>
          <a:bodyPr/>
          <a:lstStyle/>
          <a:p>
            <a:endParaRPr lang="en-IN"/>
          </a:p>
        </p:txBody>
      </p:sp>
      <p:sp>
        <p:nvSpPr>
          <p:cNvPr id="11" name="Text 9"/>
          <p:cNvSpPr txBox="1"/>
          <p:nvPr/>
        </p:nvSpPr>
        <p:spPr>
          <a:xfrm>
            <a:off x="6995160" y="1737360"/>
            <a:ext cx="4389120" cy="36576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CTG parameters read together</a:t>
            </a:r>
            <a:endParaRPr lang="en-US" sz="1400" dirty="0"/>
          </a:p>
        </p:txBody>
      </p:sp>
      <p:sp>
        <p:nvSpPr>
          <p:cNvPr id="12" name="Shape 10"/>
          <p:cNvSpPr/>
          <p:nvPr/>
        </p:nvSpPr>
        <p:spPr>
          <a:xfrm>
            <a:off x="6995160" y="2240280"/>
            <a:ext cx="457200" cy="457200"/>
          </a:xfrm>
          <a:prstGeom prst="ellipse">
            <a:avLst/>
          </a:prstGeom>
          <a:solidFill>
            <a:srgbClr val="028090"/>
          </a:solidFill>
          <a:ln/>
        </p:spPr>
        <p:txBody>
          <a:bodyPr/>
          <a:lstStyle/>
          <a:p>
            <a:endParaRPr lang="en-IN"/>
          </a:p>
        </p:txBody>
      </p:sp>
      <p:pic>
        <p:nvPicPr>
          <p:cNvPr id="13" name="Image 0" descr="/home/claude/deck/icons/heartbeat.png"/>
          <p:cNvPicPr>
            <a:picLocks noChangeAspect="1"/>
          </p:cNvPicPr>
          <p:nvPr/>
        </p:nvPicPr>
        <p:blipFill>
          <a:blip r:embed="rId3"/>
          <a:stretch>
            <a:fillRect/>
          </a:stretch>
        </p:blipFill>
        <p:spPr>
          <a:xfrm>
            <a:off x="7098030" y="2343150"/>
            <a:ext cx="251460" cy="251460"/>
          </a:xfrm>
          <a:prstGeom prst="rect">
            <a:avLst/>
          </a:prstGeom>
        </p:spPr>
      </p:pic>
      <p:sp>
        <p:nvSpPr>
          <p:cNvPr id="14" name="Text 11"/>
          <p:cNvSpPr txBox="1"/>
          <p:nvPr/>
        </p:nvSpPr>
        <p:spPr>
          <a:xfrm>
            <a:off x="7589520" y="2240280"/>
            <a:ext cx="3840480" cy="4572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Fetal heart-rate baseline</a:t>
            </a:r>
            <a:endParaRPr lang="en-US" sz="1250" dirty="0"/>
          </a:p>
        </p:txBody>
      </p:sp>
      <p:sp>
        <p:nvSpPr>
          <p:cNvPr id="15" name="Shape 12"/>
          <p:cNvSpPr/>
          <p:nvPr/>
        </p:nvSpPr>
        <p:spPr>
          <a:xfrm>
            <a:off x="6995160" y="2862072"/>
            <a:ext cx="457200" cy="457200"/>
          </a:xfrm>
          <a:prstGeom prst="ellipse">
            <a:avLst/>
          </a:prstGeom>
          <a:solidFill>
            <a:srgbClr val="028090"/>
          </a:solidFill>
          <a:ln/>
        </p:spPr>
        <p:txBody>
          <a:bodyPr/>
          <a:lstStyle/>
          <a:p>
            <a:endParaRPr lang="en-IN"/>
          </a:p>
        </p:txBody>
      </p:sp>
      <p:pic>
        <p:nvPicPr>
          <p:cNvPr id="16" name="Image 1" descr="/home/claude/deck/icons/chartline.png"/>
          <p:cNvPicPr>
            <a:picLocks noChangeAspect="1"/>
          </p:cNvPicPr>
          <p:nvPr/>
        </p:nvPicPr>
        <p:blipFill>
          <a:blip r:embed="rId4"/>
          <a:stretch>
            <a:fillRect/>
          </a:stretch>
        </p:blipFill>
        <p:spPr>
          <a:xfrm>
            <a:off x="7098030" y="2964942"/>
            <a:ext cx="251460" cy="251460"/>
          </a:xfrm>
          <a:prstGeom prst="rect">
            <a:avLst/>
          </a:prstGeom>
        </p:spPr>
      </p:pic>
      <p:sp>
        <p:nvSpPr>
          <p:cNvPr id="17" name="Text 13"/>
          <p:cNvSpPr txBox="1"/>
          <p:nvPr/>
        </p:nvSpPr>
        <p:spPr>
          <a:xfrm>
            <a:off x="7589520" y="2862072"/>
            <a:ext cx="3840480" cy="4572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Variability</a:t>
            </a:r>
            <a:endParaRPr lang="en-US" sz="1250" dirty="0"/>
          </a:p>
        </p:txBody>
      </p:sp>
      <p:sp>
        <p:nvSpPr>
          <p:cNvPr id="18" name="Shape 14"/>
          <p:cNvSpPr/>
          <p:nvPr/>
        </p:nvSpPr>
        <p:spPr>
          <a:xfrm>
            <a:off x="6995160" y="3483864"/>
            <a:ext cx="457200" cy="457200"/>
          </a:xfrm>
          <a:prstGeom prst="ellipse">
            <a:avLst/>
          </a:prstGeom>
          <a:solidFill>
            <a:srgbClr val="028090"/>
          </a:solidFill>
          <a:ln/>
        </p:spPr>
        <p:txBody>
          <a:bodyPr/>
          <a:lstStyle/>
          <a:p>
            <a:endParaRPr lang="en-IN"/>
          </a:p>
        </p:txBody>
      </p:sp>
      <p:pic>
        <p:nvPicPr>
          <p:cNvPr id="19" name="Image 2" descr="/home/claude/deck/icons/chartbar.png"/>
          <p:cNvPicPr>
            <a:picLocks noChangeAspect="1"/>
          </p:cNvPicPr>
          <p:nvPr/>
        </p:nvPicPr>
        <p:blipFill>
          <a:blip r:embed="rId5"/>
          <a:stretch>
            <a:fillRect/>
          </a:stretch>
        </p:blipFill>
        <p:spPr>
          <a:xfrm>
            <a:off x="7098030" y="3586734"/>
            <a:ext cx="251460" cy="251460"/>
          </a:xfrm>
          <a:prstGeom prst="rect">
            <a:avLst/>
          </a:prstGeom>
        </p:spPr>
      </p:pic>
      <p:sp>
        <p:nvSpPr>
          <p:cNvPr id="20" name="Text 15"/>
          <p:cNvSpPr txBox="1"/>
          <p:nvPr/>
        </p:nvSpPr>
        <p:spPr>
          <a:xfrm>
            <a:off x="7589520" y="3483864"/>
            <a:ext cx="3840480" cy="4572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Accelerations</a:t>
            </a:r>
            <a:endParaRPr lang="en-US" sz="1250" dirty="0"/>
          </a:p>
        </p:txBody>
      </p:sp>
      <p:sp>
        <p:nvSpPr>
          <p:cNvPr id="21" name="Shape 16"/>
          <p:cNvSpPr/>
          <p:nvPr/>
        </p:nvSpPr>
        <p:spPr>
          <a:xfrm>
            <a:off x="6995160" y="4105656"/>
            <a:ext cx="457200" cy="457200"/>
          </a:xfrm>
          <a:prstGeom prst="ellipse">
            <a:avLst/>
          </a:prstGeom>
          <a:solidFill>
            <a:srgbClr val="028090"/>
          </a:solidFill>
          <a:ln/>
        </p:spPr>
        <p:txBody>
          <a:bodyPr/>
          <a:lstStyle/>
          <a:p>
            <a:endParaRPr lang="en-IN"/>
          </a:p>
        </p:txBody>
      </p:sp>
      <p:pic>
        <p:nvPicPr>
          <p:cNvPr id="22" name="Image 3" descr="/home/claude/deck/icons/alert.png"/>
          <p:cNvPicPr>
            <a:picLocks noChangeAspect="1"/>
          </p:cNvPicPr>
          <p:nvPr/>
        </p:nvPicPr>
        <p:blipFill>
          <a:blip r:embed="rId6"/>
          <a:stretch>
            <a:fillRect/>
          </a:stretch>
        </p:blipFill>
        <p:spPr>
          <a:xfrm>
            <a:off x="7098030" y="4208526"/>
            <a:ext cx="251460" cy="251460"/>
          </a:xfrm>
          <a:prstGeom prst="rect">
            <a:avLst/>
          </a:prstGeom>
        </p:spPr>
      </p:pic>
      <p:sp>
        <p:nvSpPr>
          <p:cNvPr id="23" name="Text 17"/>
          <p:cNvSpPr txBox="1"/>
          <p:nvPr/>
        </p:nvSpPr>
        <p:spPr>
          <a:xfrm>
            <a:off x="7589520" y="4105656"/>
            <a:ext cx="3840480" cy="4572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Decelerations</a:t>
            </a:r>
            <a:endParaRPr lang="en-US" sz="1250" dirty="0"/>
          </a:p>
        </p:txBody>
      </p:sp>
      <p:sp>
        <p:nvSpPr>
          <p:cNvPr id="24" name="Shape 18"/>
          <p:cNvSpPr/>
          <p:nvPr/>
        </p:nvSpPr>
        <p:spPr>
          <a:xfrm>
            <a:off x="6995160" y="4727448"/>
            <a:ext cx="457200" cy="457200"/>
          </a:xfrm>
          <a:prstGeom prst="ellipse">
            <a:avLst/>
          </a:prstGeom>
          <a:solidFill>
            <a:srgbClr val="028090"/>
          </a:solidFill>
          <a:ln/>
        </p:spPr>
        <p:txBody>
          <a:bodyPr/>
          <a:lstStyle/>
          <a:p>
            <a:endParaRPr lang="en-IN"/>
          </a:p>
        </p:txBody>
      </p:sp>
      <p:pic>
        <p:nvPicPr>
          <p:cNvPr id="25" name="Image 4" descr="/home/claude/deck/icons/usermd.png"/>
          <p:cNvPicPr>
            <a:picLocks noChangeAspect="1"/>
          </p:cNvPicPr>
          <p:nvPr/>
        </p:nvPicPr>
        <p:blipFill>
          <a:blip r:embed="rId7"/>
          <a:stretch>
            <a:fillRect/>
          </a:stretch>
        </p:blipFill>
        <p:spPr>
          <a:xfrm>
            <a:off x="7098030" y="4830318"/>
            <a:ext cx="251460" cy="251460"/>
          </a:xfrm>
          <a:prstGeom prst="rect">
            <a:avLst/>
          </a:prstGeom>
        </p:spPr>
      </p:pic>
      <p:sp>
        <p:nvSpPr>
          <p:cNvPr id="26" name="Text 19"/>
          <p:cNvSpPr txBox="1"/>
          <p:nvPr/>
        </p:nvSpPr>
        <p:spPr>
          <a:xfrm>
            <a:off x="7589520" y="4727448"/>
            <a:ext cx="3840480" cy="4572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Uterine contractions</a:t>
            </a:r>
            <a:endParaRPr lang="en-US" sz="1250" dirty="0"/>
          </a:p>
        </p:txBody>
      </p:sp>
      <p:sp>
        <p:nvSpPr>
          <p:cNvPr id="27" name="Text 20"/>
          <p:cNvSpPr txBox="1"/>
          <p:nvPr/>
        </p:nvSpPr>
        <p:spPr>
          <a:xfrm>
            <a:off x="6995160" y="5394960"/>
            <a:ext cx="4389120" cy="594360"/>
          </a:xfrm>
          <a:prstGeom prst="rect">
            <a:avLst/>
          </a:prstGeom>
          <a:noFill/>
          <a:ln/>
        </p:spPr>
        <p:txBody>
          <a:bodyPr wrap="square" lIns="0" tIns="0" rIns="0" bIns="0" rtlCol="0" anchor="t"/>
          <a:lstStyle/>
          <a:p>
            <a:pPr marL="0" indent="0">
              <a:buNone/>
            </a:pPr>
            <a:r>
              <a:rPr lang="en-US" sz="1100" i="1" dirty="0">
                <a:solidFill>
                  <a:srgbClr val="BFE3E0"/>
                </a:solidFill>
                <a:latin typeface="Calibri" pitchFamily="34" charset="0"/>
                <a:ea typeface="Calibri" pitchFamily="34" charset="-122"/>
                <a:cs typeface="Calibri" pitchFamily="34" charset="-120"/>
              </a:rPr>
              <a:t>Interpreting all five together — not just one — is what makes manual reads inconsistent.</a:t>
            </a:r>
            <a:endParaRPr lang="en-US" sz="1100" dirty="0"/>
          </a:p>
        </p:txBody>
      </p:sp>
      <p:sp>
        <p:nvSpPr>
          <p:cNvPr id="29" name="Text 21"/>
          <p:cNvSpPr txBox="1"/>
          <p:nvPr/>
        </p:nvSpPr>
        <p:spPr>
          <a:xfrm>
            <a:off x="11548872" y="6473952"/>
            <a:ext cx="365760" cy="274320"/>
          </a:xfrm>
          <a:prstGeom prst="rect">
            <a:avLst/>
          </a:prstGeom>
          <a:noFill/>
          <a:ln/>
        </p:spPr>
        <p:txBody>
          <a:bodyPr wrap="square" lIns="0" tIns="0" rIns="0" bIns="0" rtlCol="0" anchor="ctr"/>
          <a:lstStyle/>
          <a:p>
            <a:pPr marL="0" indent="0" algn="r">
              <a:buNone/>
            </a:pPr>
            <a:r>
              <a:rPr lang="en-US" sz="1000" dirty="0">
                <a:solidFill>
                  <a:srgbClr val="4E6A6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AF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85800"/>
          </a:xfrm>
          <a:prstGeom prst="rect">
            <a:avLst/>
          </a:prstGeom>
          <a:noFill/>
          <a:ln/>
        </p:spPr>
        <p:txBody>
          <a:bodyPr wrap="square" lIns="0" tIns="0" rIns="0" bIns="0" rtlCol="0" anchor="ctr"/>
          <a:lstStyle/>
          <a:p>
            <a:pPr marL="0" indent="0" algn="l">
              <a:buNone/>
            </a:pPr>
            <a:r>
              <a:rPr lang="en-US" sz="3000" b="1" dirty="0">
                <a:solidFill>
                  <a:srgbClr val="0E2A2C"/>
                </a:solidFill>
                <a:latin typeface="Cambria" pitchFamily="34" charset="0"/>
                <a:ea typeface="Cambria" pitchFamily="34" charset="-122"/>
                <a:cs typeface="Cambria" pitchFamily="34" charset="-120"/>
              </a:rPr>
              <a:t>Objectives &amp; Key Features</a:t>
            </a:r>
            <a:endParaRPr lang="en-US" sz="3000" dirty="0"/>
          </a:p>
        </p:txBody>
      </p:sp>
      <p:sp>
        <p:nvSpPr>
          <p:cNvPr id="3" name="Text 1"/>
          <p:cNvSpPr txBox="1"/>
          <p:nvPr/>
        </p:nvSpPr>
        <p:spPr>
          <a:xfrm>
            <a:off x="548640" y="987552"/>
            <a:ext cx="11091672" cy="365760"/>
          </a:xfrm>
          <a:prstGeom prst="rect">
            <a:avLst/>
          </a:prstGeom>
          <a:noFill/>
          <a:ln/>
        </p:spPr>
        <p:txBody>
          <a:bodyPr wrap="square" lIns="0" tIns="0" rIns="0" bIns="0" rtlCol="0" anchor="ctr"/>
          <a:lstStyle/>
          <a:p>
            <a:pPr marL="0" indent="0" algn="l">
              <a:buNone/>
            </a:pPr>
            <a:r>
              <a:rPr lang="en-US" sz="1300" i="1" dirty="0">
                <a:solidFill>
                  <a:srgbClr val="4E6A6C"/>
                </a:solidFill>
                <a:latin typeface="Calibri" pitchFamily="34" charset="0"/>
                <a:ea typeface="Calibri" pitchFamily="34" charset="-122"/>
                <a:cs typeface="Calibri" pitchFamily="34" charset="-120"/>
              </a:rPr>
              <a:t>What the system is built to achieve, and the capabilities that deliver it</a:t>
            </a:r>
            <a:endParaRPr lang="en-US" sz="1300" dirty="0"/>
          </a:p>
        </p:txBody>
      </p:sp>
      <p:sp>
        <p:nvSpPr>
          <p:cNvPr id="4" name="Shape 2"/>
          <p:cNvSpPr/>
          <p:nvPr/>
        </p:nvSpPr>
        <p:spPr>
          <a:xfrm>
            <a:off x="548640" y="1508760"/>
            <a:ext cx="5120640" cy="4709160"/>
          </a:xfrm>
          <a:prstGeom prst="roundRect">
            <a:avLst>
              <a:gd name="adj" fmla="val 1553"/>
            </a:avLst>
          </a:prstGeom>
          <a:solidFill>
            <a:srgbClr val="FFFFFF"/>
          </a:solidFill>
          <a:ln w="12700">
            <a:solidFill>
              <a:srgbClr val="D9E7E6"/>
            </a:solidFill>
            <a:prstDash val="solid"/>
          </a:ln>
          <a:effectLst>
            <a:outerShdw blurRad="76200" dist="25400" dir="5400000" algn="bl" rotWithShape="0">
              <a:srgbClr val="1B2B2B">
                <a:alpha val="12000"/>
              </a:srgbClr>
            </a:outerShdw>
          </a:effectLst>
        </p:spPr>
        <p:txBody>
          <a:bodyPr/>
          <a:lstStyle/>
          <a:p>
            <a:endParaRPr lang="en-IN"/>
          </a:p>
        </p:txBody>
      </p:sp>
      <p:sp>
        <p:nvSpPr>
          <p:cNvPr id="5" name="Shape 3"/>
          <p:cNvSpPr/>
          <p:nvPr/>
        </p:nvSpPr>
        <p:spPr>
          <a:xfrm>
            <a:off x="868680" y="1783080"/>
            <a:ext cx="457200" cy="457200"/>
          </a:xfrm>
          <a:prstGeom prst="ellipse">
            <a:avLst/>
          </a:prstGeom>
          <a:solidFill>
            <a:srgbClr val="028090"/>
          </a:solidFill>
          <a:ln/>
        </p:spPr>
        <p:txBody>
          <a:bodyPr/>
          <a:lstStyle/>
          <a:p>
            <a:endParaRPr lang="en-IN"/>
          </a:p>
        </p:txBody>
      </p:sp>
      <p:pic>
        <p:nvPicPr>
          <p:cNvPr id="6" name="Image 0" descr="/home/claude/deck/icons/bullseye.png"/>
          <p:cNvPicPr>
            <a:picLocks noChangeAspect="1"/>
          </p:cNvPicPr>
          <p:nvPr/>
        </p:nvPicPr>
        <p:blipFill>
          <a:blip r:embed="rId3"/>
          <a:stretch>
            <a:fillRect/>
          </a:stretch>
        </p:blipFill>
        <p:spPr>
          <a:xfrm>
            <a:off x="971550" y="1885950"/>
            <a:ext cx="251460" cy="251460"/>
          </a:xfrm>
          <a:prstGeom prst="rect">
            <a:avLst/>
          </a:prstGeom>
        </p:spPr>
      </p:pic>
      <p:sp>
        <p:nvSpPr>
          <p:cNvPr id="7" name="Text 4"/>
          <p:cNvSpPr txBox="1"/>
          <p:nvPr/>
        </p:nvSpPr>
        <p:spPr>
          <a:xfrm>
            <a:off x="1463040" y="1783080"/>
            <a:ext cx="3931920" cy="457200"/>
          </a:xfrm>
          <a:prstGeom prst="rect">
            <a:avLst/>
          </a:prstGeom>
          <a:noFill/>
          <a:ln/>
        </p:spPr>
        <p:txBody>
          <a:bodyPr wrap="square" lIns="0" tIns="0" rIns="0" bIns="0" rtlCol="0" anchor="ctr"/>
          <a:lstStyle/>
          <a:p>
            <a:pPr marL="0" indent="0">
              <a:buNone/>
            </a:pPr>
            <a:r>
              <a:rPr lang="en-US" sz="1600" b="1" dirty="0">
                <a:solidFill>
                  <a:srgbClr val="0E2A2C"/>
                </a:solidFill>
                <a:latin typeface="Cambria" pitchFamily="34" charset="0"/>
                <a:ea typeface="Cambria" pitchFamily="34" charset="-122"/>
                <a:cs typeface="Cambria" pitchFamily="34" charset="-120"/>
              </a:rPr>
              <a:t>Objectives</a:t>
            </a:r>
            <a:endParaRPr lang="en-US" sz="1600" dirty="0"/>
          </a:p>
        </p:txBody>
      </p:sp>
      <p:sp>
        <p:nvSpPr>
          <p:cNvPr id="8" name="Text 5"/>
          <p:cNvSpPr txBox="1"/>
          <p:nvPr/>
        </p:nvSpPr>
        <p:spPr>
          <a:xfrm>
            <a:off x="868680" y="2423160"/>
            <a:ext cx="4572000" cy="3566160"/>
          </a:xfrm>
          <a:prstGeom prst="rect">
            <a:avLst/>
          </a:prstGeom>
          <a:noFill/>
          <a:ln/>
        </p:spPr>
        <p:txBody>
          <a:bodyPr wrap="square" lIns="0" tIns="0" rIns="0" bIns="0" rtlCol="0" anchor="t"/>
          <a:lstStyle/>
          <a:p>
            <a:pPr marL="177800" indent="-177800">
              <a:spcAft>
                <a:spcPts val="1000"/>
              </a:spcAft>
              <a:buSzPct val="100000"/>
              <a:buChar char="•"/>
            </a:pPr>
            <a:r>
              <a:rPr lang="en-US" sz="1200" dirty="0">
                <a:solidFill>
                  <a:srgbClr val="0E2A2C"/>
                </a:solidFill>
                <a:latin typeface="Calibri" pitchFamily="34" charset="0"/>
                <a:ea typeface="Calibri" pitchFamily="34" charset="-122"/>
                <a:cs typeface="Calibri" pitchFamily="34" charset="-120"/>
              </a:rPr>
              <a:t>Build an ML model that classifies fetal health from CTG parameters</a:t>
            </a:r>
            <a:endParaRPr lang="en-US" sz="1200" dirty="0"/>
          </a:p>
          <a:p>
            <a:pPr marL="177800" indent="-177800">
              <a:spcAft>
                <a:spcPts val="1000"/>
              </a:spcAft>
              <a:buSzPct val="100000"/>
              <a:buChar char="•"/>
            </a:pPr>
            <a:r>
              <a:rPr lang="en-US" sz="1200" dirty="0">
                <a:solidFill>
                  <a:srgbClr val="0E2A2C"/>
                </a:solidFill>
                <a:latin typeface="Calibri" pitchFamily="34" charset="0"/>
                <a:ea typeface="Calibri" pitchFamily="34" charset="-122"/>
                <a:cs typeface="Calibri" pitchFamily="34" charset="-120"/>
              </a:rPr>
              <a:t>Give clinicians a web interface to enter CTG data and get a result</a:t>
            </a:r>
            <a:endParaRPr lang="en-US" sz="1200" dirty="0"/>
          </a:p>
          <a:p>
            <a:pPr marL="177800" indent="-177800">
              <a:spcAft>
                <a:spcPts val="1000"/>
              </a:spcAft>
              <a:buSzPct val="100000"/>
              <a:buChar char="•"/>
            </a:pPr>
            <a:r>
              <a:rPr lang="en-US" sz="1200" dirty="0">
                <a:solidFill>
                  <a:srgbClr val="0E2A2C"/>
                </a:solidFill>
                <a:latin typeface="Calibri" pitchFamily="34" charset="0"/>
                <a:ea typeface="Calibri" pitchFamily="34" charset="-122"/>
                <a:cs typeface="Calibri" pitchFamily="34" charset="-120"/>
              </a:rPr>
              <a:t>Serve predictions through a FastAPI backend integrated with the model</a:t>
            </a:r>
            <a:endParaRPr lang="en-US" sz="1200" dirty="0"/>
          </a:p>
          <a:p>
            <a:pPr marL="177800" indent="-177800">
              <a:spcAft>
                <a:spcPts val="1000"/>
              </a:spcAft>
              <a:buSzPct val="100000"/>
              <a:buChar char="•"/>
            </a:pPr>
            <a:r>
              <a:rPr lang="en-US" sz="1200" dirty="0">
                <a:solidFill>
                  <a:srgbClr val="0E2A2C"/>
                </a:solidFill>
                <a:latin typeface="Calibri" pitchFamily="34" charset="0"/>
                <a:ea typeface="Calibri" pitchFamily="34" charset="-122"/>
                <a:cs typeface="Calibri" pitchFamily="34" charset="-120"/>
              </a:rPr>
              <a:t>Persist patients and assessment history in PostgreSQL</a:t>
            </a:r>
            <a:endParaRPr lang="en-US" sz="1200" dirty="0"/>
          </a:p>
          <a:p>
            <a:pPr marL="177800" indent="-177800">
              <a:spcAft>
                <a:spcPts val="1000"/>
              </a:spcAft>
              <a:buSzPct val="100000"/>
              <a:buChar char="•"/>
            </a:pPr>
            <a:r>
              <a:rPr lang="en-US" sz="1200" dirty="0">
                <a:solidFill>
                  <a:srgbClr val="0E2A2C"/>
                </a:solidFill>
                <a:latin typeface="Calibri" pitchFamily="34" charset="0"/>
                <a:ea typeface="Calibri" pitchFamily="34" charset="-122"/>
                <a:cs typeface="Calibri" pitchFamily="34" charset="-120"/>
              </a:rPr>
              <a:t>Surface confidence and the contributing parameters, not just a label</a:t>
            </a:r>
            <a:endParaRPr lang="en-US" sz="1200" dirty="0"/>
          </a:p>
          <a:p>
            <a:pPr marL="177800" indent="-177800">
              <a:spcAft>
                <a:spcPts val="1000"/>
              </a:spcAft>
              <a:buSzPct val="100000"/>
              <a:buChar char="•"/>
            </a:pPr>
            <a:r>
              <a:rPr lang="en-US" sz="1200" dirty="0">
                <a:solidFill>
                  <a:srgbClr val="0E2A2C"/>
                </a:solidFill>
                <a:latin typeface="Calibri" pitchFamily="34" charset="0"/>
                <a:ea typeface="Calibri" pitchFamily="34" charset="-122"/>
                <a:cs typeface="Calibri" pitchFamily="34" charset="-120"/>
              </a:rPr>
              <a:t>Turn the ML output into a plain-language explanation using Generative AI</a:t>
            </a:r>
            <a:endParaRPr lang="en-US" sz="1200" dirty="0"/>
          </a:p>
          <a:p>
            <a:pPr marL="177800" indent="-177800">
              <a:spcAft>
                <a:spcPts val="1000"/>
              </a:spcAft>
              <a:buSzPct val="100000"/>
              <a:buChar char="•"/>
            </a:pPr>
            <a:r>
              <a:rPr lang="en-US" sz="1200" dirty="0">
                <a:solidFill>
                  <a:srgbClr val="0E2A2C"/>
                </a:solidFill>
                <a:latin typeface="Calibri" pitchFamily="34" charset="0"/>
                <a:ea typeface="Calibri" pitchFamily="34" charset="-122"/>
                <a:cs typeface="Calibri" pitchFamily="34" charset="-120"/>
              </a:rPr>
              <a:t>Produce a downloadable PDF report per assessment</a:t>
            </a:r>
            <a:endParaRPr lang="en-US" sz="1200" dirty="0"/>
          </a:p>
        </p:txBody>
      </p:sp>
      <p:sp>
        <p:nvSpPr>
          <p:cNvPr id="9" name="Shape 6"/>
          <p:cNvSpPr/>
          <p:nvPr/>
        </p:nvSpPr>
        <p:spPr>
          <a:xfrm>
            <a:off x="5897880" y="1508760"/>
            <a:ext cx="2788920" cy="1459992"/>
          </a:xfrm>
          <a:prstGeom prst="roundRect">
            <a:avLst>
              <a:gd name="adj" fmla="val 5010"/>
            </a:avLst>
          </a:prstGeom>
          <a:solidFill>
            <a:srgbClr val="FFFFFF"/>
          </a:solidFill>
          <a:ln w="12700">
            <a:solidFill>
              <a:srgbClr val="D9E7E6"/>
            </a:solidFill>
            <a:prstDash val="solid"/>
          </a:ln>
        </p:spPr>
        <p:txBody>
          <a:bodyPr/>
          <a:lstStyle/>
          <a:p>
            <a:endParaRPr lang="en-IN"/>
          </a:p>
        </p:txBody>
      </p:sp>
      <p:sp>
        <p:nvSpPr>
          <p:cNvPr id="10" name="Shape 7"/>
          <p:cNvSpPr/>
          <p:nvPr/>
        </p:nvSpPr>
        <p:spPr>
          <a:xfrm>
            <a:off x="6080760" y="1987296"/>
            <a:ext cx="502920" cy="502920"/>
          </a:xfrm>
          <a:prstGeom prst="ellipse">
            <a:avLst/>
          </a:prstGeom>
          <a:solidFill>
            <a:srgbClr val="00A896"/>
          </a:solidFill>
          <a:ln/>
        </p:spPr>
        <p:txBody>
          <a:bodyPr/>
          <a:lstStyle/>
          <a:p>
            <a:endParaRPr lang="en-IN"/>
          </a:p>
        </p:txBody>
      </p:sp>
      <p:pic>
        <p:nvPicPr>
          <p:cNvPr id="11" name="Image 1" descr="/home/claude/deck/icons/lock.png"/>
          <p:cNvPicPr>
            <a:picLocks noChangeAspect="1"/>
          </p:cNvPicPr>
          <p:nvPr/>
        </p:nvPicPr>
        <p:blipFill>
          <a:blip r:embed="rId4"/>
          <a:stretch>
            <a:fillRect/>
          </a:stretch>
        </p:blipFill>
        <p:spPr>
          <a:xfrm>
            <a:off x="6193917" y="2100453"/>
            <a:ext cx="276606" cy="276606"/>
          </a:xfrm>
          <a:prstGeom prst="rect">
            <a:avLst/>
          </a:prstGeom>
        </p:spPr>
      </p:pic>
      <p:sp>
        <p:nvSpPr>
          <p:cNvPr id="12" name="Text 8"/>
          <p:cNvSpPr txBox="1"/>
          <p:nvPr/>
        </p:nvSpPr>
        <p:spPr>
          <a:xfrm>
            <a:off x="6720840" y="1673352"/>
            <a:ext cx="1828800" cy="365760"/>
          </a:xfrm>
          <a:prstGeom prst="rect">
            <a:avLst/>
          </a:prstGeom>
          <a:noFill/>
          <a:ln/>
        </p:spPr>
        <p:txBody>
          <a:bodyPr wrap="square" lIns="0" tIns="0" rIns="0" bIns="0" rtlCol="0" anchor="t"/>
          <a:lstStyle/>
          <a:p>
            <a:pPr marL="0" indent="0">
              <a:buNone/>
            </a:pPr>
            <a:r>
              <a:rPr lang="en-US" sz="1250" b="1" dirty="0">
                <a:solidFill>
                  <a:srgbClr val="0E2A2C"/>
                </a:solidFill>
                <a:latin typeface="Calibri" pitchFamily="34" charset="0"/>
                <a:ea typeface="Calibri" pitchFamily="34" charset="-122"/>
                <a:cs typeface="Calibri" pitchFamily="34" charset="-120"/>
              </a:rPr>
              <a:t>Authentication</a:t>
            </a:r>
            <a:endParaRPr lang="en-US" sz="1250" dirty="0"/>
          </a:p>
        </p:txBody>
      </p:sp>
      <p:sp>
        <p:nvSpPr>
          <p:cNvPr id="13" name="Text 9"/>
          <p:cNvSpPr txBox="1"/>
          <p:nvPr/>
        </p:nvSpPr>
        <p:spPr>
          <a:xfrm>
            <a:off x="6720840" y="2039112"/>
            <a:ext cx="1828800" cy="819912"/>
          </a:xfrm>
          <a:prstGeom prst="rect">
            <a:avLst/>
          </a:prstGeom>
          <a:noFill/>
          <a:ln/>
        </p:spPr>
        <p:txBody>
          <a:bodyPr wrap="square" lIns="0" tIns="0" rIns="0" bIns="0" rtlCol="0" anchor="t"/>
          <a:lstStyle/>
          <a:p>
            <a:pPr marL="0" indent="0">
              <a:lnSpc>
                <a:spcPct val="110000"/>
              </a:lnSpc>
              <a:buNone/>
            </a:pPr>
            <a:r>
              <a:rPr lang="en-US" sz="1050" dirty="0">
                <a:solidFill>
                  <a:srgbClr val="4E6A6C"/>
                </a:solidFill>
                <a:latin typeface="Calibri" pitchFamily="34" charset="0"/>
                <a:ea typeface="Calibri" pitchFamily="34" charset="-122"/>
                <a:cs typeface="Calibri" pitchFamily="34" charset="-120"/>
              </a:rPr>
              <a:t>JWT login, protected routes</a:t>
            </a:r>
            <a:endParaRPr lang="en-US" sz="1050" dirty="0"/>
          </a:p>
        </p:txBody>
      </p:sp>
      <p:sp>
        <p:nvSpPr>
          <p:cNvPr id="14" name="Shape 10"/>
          <p:cNvSpPr/>
          <p:nvPr/>
        </p:nvSpPr>
        <p:spPr>
          <a:xfrm>
            <a:off x="8851392" y="1508760"/>
            <a:ext cx="2788920" cy="1459992"/>
          </a:xfrm>
          <a:prstGeom prst="roundRect">
            <a:avLst>
              <a:gd name="adj" fmla="val 5010"/>
            </a:avLst>
          </a:prstGeom>
          <a:solidFill>
            <a:srgbClr val="FFFFFF"/>
          </a:solidFill>
          <a:ln w="12700">
            <a:solidFill>
              <a:srgbClr val="D9E7E6"/>
            </a:solidFill>
            <a:prstDash val="solid"/>
          </a:ln>
        </p:spPr>
        <p:txBody>
          <a:bodyPr/>
          <a:lstStyle/>
          <a:p>
            <a:endParaRPr lang="en-IN"/>
          </a:p>
        </p:txBody>
      </p:sp>
      <p:sp>
        <p:nvSpPr>
          <p:cNvPr id="15" name="Shape 11"/>
          <p:cNvSpPr/>
          <p:nvPr/>
        </p:nvSpPr>
        <p:spPr>
          <a:xfrm>
            <a:off x="9034272" y="1987296"/>
            <a:ext cx="502920" cy="502920"/>
          </a:xfrm>
          <a:prstGeom prst="ellipse">
            <a:avLst/>
          </a:prstGeom>
          <a:solidFill>
            <a:srgbClr val="00A896"/>
          </a:solidFill>
          <a:ln/>
        </p:spPr>
        <p:txBody>
          <a:bodyPr/>
          <a:lstStyle/>
          <a:p>
            <a:endParaRPr lang="en-IN"/>
          </a:p>
        </p:txBody>
      </p:sp>
      <p:pic>
        <p:nvPicPr>
          <p:cNvPr id="16" name="Image 2" descr="/home/claude/deck/icons/usermd.png"/>
          <p:cNvPicPr>
            <a:picLocks noChangeAspect="1"/>
          </p:cNvPicPr>
          <p:nvPr/>
        </p:nvPicPr>
        <p:blipFill>
          <a:blip r:embed="rId5"/>
          <a:stretch>
            <a:fillRect/>
          </a:stretch>
        </p:blipFill>
        <p:spPr>
          <a:xfrm>
            <a:off x="9147429" y="2100453"/>
            <a:ext cx="276606" cy="276606"/>
          </a:xfrm>
          <a:prstGeom prst="rect">
            <a:avLst/>
          </a:prstGeom>
        </p:spPr>
      </p:pic>
      <p:sp>
        <p:nvSpPr>
          <p:cNvPr id="17" name="Text 12"/>
          <p:cNvSpPr txBox="1"/>
          <p:nvPr/>
        </p:nvSpPr>
        <p:spPr>
          <a:xfrm>
            <a:off x="9674352" y="1673352"/>
            <a:ext cx="1828800" cy="365760"/>
          </a:xfrm>
          <a:prstGeom prst="rect">
            <a:avLst/>
          </a:prstGeom>
          <a:noFill/>
          <a:ln/>
        </p:spPr>
        <p:txBody>
          <a:bodyPr wrap="square" lIns="0" tIns="0" rIns="0" bIns="0" rtlCol="0" anchor="t"/>
          <a:lstStyle/>
          <a:p>
            <a:pPr marL="0" indent="0">
              <a:buNone/>
            </a:pPr>
            <a:r>
              <a:rPr lang="en-US" sz="1250" b="1" dirty="0">
                <a:solidFill>
                  <a:srgbClr val="0E2A2C"/>
                </a:solidFill>
                <a:latin typeface="Calibri" pitchFamily="34" charset="0"/>
                <a:ea typeface="Calibri" pitchFamily="34" charset="-122"/>
                <a:cs typeface="Calibri" pitchFamily="34" charset="-120"/>
              </a:rPr>
              <a:t>Patient Management</a:t>
            </a:r>
            <a:endParaRPr lang="en-US" sz="1250" dirty="0"/>
          </a:p>
        </p:txBody>
      </p:sp>
      <p:sp>
        <p:nvSpPr>
          <p:cNvPr id="18" name="Text 13"/>
          <p:cNvSpPr txBox="1"/>
          <p:nvPr/>
        </p:nvSpPr>
        <p:spPr>
          <a:xfrm>
            <a:off x="9674352" y="2039112"/>
            <a:ext cx="1828800" cy="819912"/>
          </a:xfrm>
          <a:prstGeom prst="rect">
            <a:avLst/>
          </a:prstGeom>
          <a:noFill/>
          <a:ln/>
        </p:spPr>
        <p:txBody>
          <a:bodyPr wrap="square" lIns="0" tIns="0" rIns="0" bIns="0" rtlCol="0" anchor="t"/>
          <a:lstStyle/>
          <a:p>
            <a:pPr marL="0" indent="0">
              <a:lnSpc>
                <a:spcPct val="110000"/>
              </a:lnSpc>
              <a:buNone/>
            </a:pPr>
            <a:r>
              <a:rPr lang="en-US" sz="1050" dirty="0">
                <a:solidFill>
                  <a:srgbClr val="4E6A6C"/>
                </a:solidFill>
                <a:latin typeface="Calibri" pitchFamily="34" charset="0"/>
                <a:ea typeface="Calibri" pitchFamily="34" charset="-122"/>
                <a:cs typeface="Calibri" pitchFamily="34" charset="-120"/>
              </a:rPr>
              <a:t>Create &amp; track patient records</a:t>
            </a:r>
            <a:endParaRPr lang="en-US" sz="1050" dirty="0"/>
          </a:p>
        </p:txBody>
      </p:sp>
      <p:sp>
        <p:nvSpPr>
          <p:cNvPr id="19" name="Shape 14"/>
          <p:cNvSpPr/>
          <p:nvPr/>
        </p:nvSpPr>
        <p:spPr>
          <a:xfrm>
            <a:off x="5897880" y="3133344"/>
            <a:ext cx="2788920" cy="1459992"/>
          </a:xfrm>
          <a:prstGeom prst="roundRect">
            <a:avLst>
              <a:gd name="adj" fmla="val 5010"/>
            </a:avLst>
          </a:prstGeom>
          <a:solidFill>
            <a:srgbClr val="FFFFFF"/>
          </a:solidFill>
          <a:ln w="12700">
            <a:solidFill>
              <a:srgbClr val="D9E7E6"/>
            </a:solidFill>
            <a:prstDash val="solid"/>
          </a:ln>
        </p:spPr>
        <p:txBody>
          <a:bodyPr/>
          <a:lstStyle/>
          <a:p>
            <a:endParaRPr lang="en-IN"/>
          </a:p>
        </p:txBody>
      </p:sp>
      <p:sp>
        <p:nvSpPr>
          <p:cNvPr id="20" name="Shape 15"/>
          <p:cNvSpPr/>
          <p:nvPr/>
        </p:nvSpPr>
        <p:spPr>
          <a:xfrm>
            <a:off x="6080760" y="3611880"/>
            <a:ext cx="502920" cy="502920"/>
          </a:xfrm>
          <a:prstGeom prst="ellipse">
            <a:avLst/>
          </a:prstGeom>
          <a:solidFill>
            <a:srgbClr val="00A896"/>
          </a:solidFill>
          <a:ln/>
        </p:spPr>
        <p:txBody>
          <a:bodyPr/>
          <a:lstStyle/>
          <a:p>
            <a:endParaRPr lang="en-IN"/>
          </a:p>
        </p:txBody>
      </p:sp>
      <p:pic>
        <p:nvPicPr>
          <p:cNvPr id="21" name="Image 3" descr="/home/claude/deck/icons/brain.png"/>
          <p:cNvPicPr>
            <a:picLocks noChangeAspect="1"/>
          </p:cNvPicPr>
          <p:nvPr/>
        </p:nvPicPr>
        <p:blipFill>
          <a:blip r:embed="rId6"/>
          <a:stretch>
            <a:fillRect/>
          </a:stretch>
        </p:blipFill>
        <p:spPr>
          <a:xfrm>
            <a:off x="6193917" y="3725037"/>
            <a:ext cx="276606" cy="276606"/>
          </a:xfrm>
          <a:prstGeom prst="rect">
            <a:avLst/>
          </a:prstGeom>
        </p:spPr>
      </p:pic>
      <p:sp>
        <p:nvSpPr>
          <p:cNvPr id="22" name="Text 16"/>
          <p:cNvSpPr txBox="1"/>
          <p:nvPr/>
        </p:nvSpPr>
        <p:spPr>
          <a:xfrm>
            <a:off x="6720840" y="3297936"/>
            <a:ext cx="1828800" cy="365760"/>
          </a:xfrm>
          <a:prstGeom prst="rect">
            <a:avLst/>
          </a:prstGeom>
          <a:noFill/>
          <a:ln/>
        </p:spPr>
        <p:txBody>
          <a:bodyPr wrap="square" lIns="0" tIns="0" rIns="0" bIns="0" rtlCol="0" anchor="t"/>
          <a:lstStyle/>
          <a:p>
            <a:pPr marL="0" indent="0">
              <a:buNone/>
            </a:pPr>
            <a:r>
              <a:rPr lang="en-US" sz="1250" b="1" dirty="0">
                <a:solidFill>
                  <a:srgbClr val="0E2A2C"/>
                </a:solidFill>
                <a:latin typeface="Calibri" pitchFamily="34" charset="0"/>
                <a:ea typeface="Calibri" pitchFamily="34" charset="-122"/>
                <a:cs typeface="Calibri" pitchFamily="34" charset="-120"/>
              </a:rPr>
              <a:t>ML Prediction</a:t>
            </a:r>
            <a:endParaRPr lang="en-US" sz="1250" dirty="0"/>
          </a:p>
        </p:txBody>
      </p:sp>
      <p:sp>
        <p:nvSpPr>
          <p:cNvPr id="23" name="Text 17"/>
          <p:cNvSpPr txBox="1"/>
          <p:nvPr/>
        </p:nvSpPr>
        <p:spPr>
          <a:xfrm>
            <a:off x="6720840" y="3663696"/>
            <a:ext cx="1828800" cy="819912"/>
          </a:xfrm>
          <a:prstGeom prst="rect">
            <a:avLst/>
          </a:prstGeom>
          <a:noFill/>
          <a:ln/>
        </p:spPr>
        <p:txBody>
          <a:bodyPr wrap="square" lIns="0" tIns="0" rIns="0" bIns="0" rtlCol="0" anchor="t"/>
          <a:lstStyle/>
          <a:p>
            <a:pPr marL="0" indent="0">
              <a:lnSpc>
                <a:spcPct val="110000"/>
              </a:lnSpc>
              <a:buNone/>
            </a:pPr>
            <a:r>
              <a:rPr lang="en-US" sz="1050" dirty="0">
                <a:solidFill>
                  <a:srgbClr val="4E6A6C"/>
                </a:solidFill>
                <a:latin typeface="Calibri" pitchFamily="34" charset="0"/>
                <a:ea typeface="Calibri" pitchFamily="34" charset="-122"/>
                <a:cs typeface="Calibri" pitchFamily="34" charset="-120"/>
              </a:rPr>
              <a:t>Normal / Suspect / Pathological</a:t>
            </a:r>
            <a:endParaRPr lang="en-US" sz="1050" dirty="0"/>
          </a:p>
        </p:txBody>
      </p:sp>
      <p:sp>
        <p:nvSpPr>
          <p:cNvPr id="24" name="Shape 18"/>
          <p:cNvSpPr/>
          <p:nvPr/>
        </p:nvSpPr>
        <p:spPr>
          <a:xfrm>
            <a:off x="8851392" y="3133344"/>
            <a:ext cx="2788920" cy="1459992"/>
          </a:xfrm>
          <a:prstGeom prst="roundRect">
            <a:avLst>
              <a:gd name="adj" fmla="val 5010"/>
            </a:avLst>
          </a:prstGeom>
          <a:solidFill>
            <a:srgbClr val="FFFFFF"/>
          </a:solidFill>
          <a:ln w="12700">
            <a:solidFill>
              <a:srgbClr val="D9E7E6"/>
            </a:solidFill>
            <a:prstDash val="solid"/>
          </a:ln>
        </p:spPr>
        <p:txBody>
          <a:bodyPr/>
          <a:lstStyle/>
          <a:p>
            <a:endParaRPr lang="en-IN"/>
          </a:p>
        </p:txBody>
      </p:sp>
      <p:sp>
        <p:nvSpPr>
          <p:cNvPr id="25" name="Shape 19"/>
          <p:cNvSpPr/>
          <p:nvPr/>
        </p:nvSpPr>
        <p:spPr>
          <a:xfrm>
            <a:off x="9034272" y="3611880"/>
            <a:ext cx="502920" cy="502920"/>
          </a:xfrm>
          <a:prstGeom prst="ellipse">
            <a:avLst/>
          </a:prstGeom>
          <a:solidFill>
            <a:srgbClr val="00A896"/>
          </a:solidFill>
          <a:ln/>
        </p:spPr>
        <p:txBody>
          <a:bodyPr/>
          <a:lstStyle/>
          <a:p>
            <a:endParaRPr lang="en-IN"/>
          </a:p>
        </p:txBody>
      </p:sp>
      <p:pic>
        <p:nvPicPr>
          <p:cNvPr id="26" name="Image 4" descr="/home/claude/deck/icons/chartbar.png"/>
          <p:cNvPicPr>
            <a:picLocks noChangeAspect="1"/>
          </p:cNvPicPr>
          <p:nvPr/>
        </p:nvPicPr>
        <p:blipFill>
          <a:blip r:embed="rId7"/>
          <a:stretch>
            <a:fillRect/>
          </a:stretch>
        </p:blipFill>
        <p:spPr>
          <a:xfrm>
            <a:off x="9147429" y="3725037"/>
            <a:ext cx="276606" cy="276606"/>
          </a:xfrm>
          <a:prstGeom prst="rect">
            <a:avLst/>
          </a:prstGeom>
        </p:spPr>
      </p:pic>
      <p:sp>
        <p:nvSpPr>
          <p:cNvPr id="27" name="Text 20"/>
          <p:cNvSpPr txBox="1"/>
          <p:nvPr/>
        </p:nvSpPr>
        <p:spPr>
          <a:xfrm>
            <a:off x="9674352" y="3297936"/>
            <a:ext cx="1828800" cy="365760"/>
          </a:xfrm>
          <a:prstGeom prst="rect">
            <a:avLst/>
          </a:prstGeom>
          <a:noFill/>
          <a:ln/>
        </p:spPr>
        <p:txBody>
          <a:bodyPr wrap="square" lIns="0" tIns="0" rIns="0" bIns="0" rtlCol="0" anchor="t"/>
          <a:lstStyle/>
          <a:p>
            <a:pPr marL="0" indent="0">
              <a:buNone/>
            </a:pPr>
            <a:r>
              <a:rPr lang="en-US" sz="1250" b="1" dirty="0">
                <a:solidFill>
                  <a:srgbClr val="0E2A2C"/>
                </a:solidFill>
                <a:latin typeface="Calibri" pitchFamily="34" charset="0"/>
                <a:ea typeface="Calibri" pitchFamily="34" charset="-122"/>
                <a:cs typeface="Calibri" pitchFamily="34" charset="-120"/>
              </a:rPr>
              <a:t>Explainable Results</a:t>
            </a:r>
            <a:endParaRPr lang="en-US" sz="1250" dirty="0"/>
          </a:p>
        </p:txBody>
      </p:sp>
      <p:sp>
        <p:nvSpPr>
          <p:cNvPr id="28" name="Text 21"/>
          <p:cNvSpPr txBox="1"/>
          <p:nvPr/>
        </p:nvSpPr>
        <p:spPr>
          <a:xfrm>
            <a:off x="9674352" y="3663696"/>
            <a:ext cx="1828800" cy="819912"/>
          </a:xfrm>
          <a:prstGeom prst="rect">
            <a:avLst/>
          </a:prstGeom>
          <a:noFill/>
          <a:ln/>
        </p:spPr>
        <p:txBody>
          <a:bodyPr wrap="square" lIns="0" tIns="0" rIns="0" bIns="0" rtlCol="0" anchor="t"/>
          <a:lstStyle/>
          <a:p>
            <a:pPr marL="0" indent="0">
              <a:lnSpc>
                <a:spcPct val="110000"/>
              </a:lnSpc>
              <a:buNone/>
            </a:pPr>
            <a:r>
              <a:rPr lang="en-US" sz="1050" dirty="0">
                <a:solidFill>
                  <a:srgbClr val="4E6A6C"/>
                </a:solidFill>
                <a:latin typeface="Calibri" pitchFamily="34" charset="0"/>
                <a:ea typeface="Calibri" pitchFamily="34" charset="-122"/>
                <a:cs typeface="Calibri" pitchFamily="34" charset="-120"/>
              </a:rPr>
              <a:t>Key features behind each call</a:t>
            </a:r>
            <a:endParaRPr lang="en-US" sz="1050" dirty="0"/>
          </a:p>
        </p:txBody>
      </p:sp>
      <p:sp>
        <p:nvSpPr>
          <p:cNvPr id="29" name="Shape 22"/>
          <p:cNvSpPr/>
          <p:nvPr/>
        </p:nvSpPr>
        <p:spPr>
          <a:xfrm>
            <a:off x="5897880" y="4757928"/>
            <a:ext cx="2788920" cy="1459992"/>
          </a:xfrm>
          <a:prstGeom prst="roundRect">
            <a:avLst>
              <a:gd name="adj" fmla="val 5010"/>
            </a:avLst>
          </a:prstGeom>
          <a:solidFill>
            <a:srgbClr val="FFFFFF"/>
          </a:solidFill>
          <a:ln w="12700">
            <a:solidFill>
              <a:srgbClr val="D9E7E6"/>
            </a:solidFill>
            <a:prstDash val="solid"/>
          </a:ln>
        </p:spPr>
        <p:txBody>
          <a:bodyPr/>
          <a:lstStyle/>
          <a:p>
            <a:endParaRPr lang="en-IN"/>
          </a:p>
        </p:txBody>
      </p:sp>
      <p:sp>
        <p:nvSpPr>
          <p:cNvPr id="30" name="Shape 23"/>
          <p:cNvSpPr/>
          <p:nvPr/>
        </p:nvSpPr>
        <p:spPr>
          <a:xfrm>
            <a:off x="6080760" y="5236464"/>
            <a:ext cx="502920" cy="502920"/>
          </a:xfrm>
          <a:prstGeom prst="ellipse">
            <a:avLst/>
          </a:prstGeom>
          <a:solidFill>
            <a:srgbClr val="00A896"/>
          </a:solidFill>
          <a:ln/>
        </p:spPr>
        <p:txBody>
          <a:bodyPr/>
          <a:lstStyle/>
          <a:p>
            <a:endParaRPr lang="en-IN"/>
          </a:p>
        </p:txBody>
      </p:sp>
      <p:pic>
        <p:nvPicPr>
          <p:cNvPr id="31" name="Image 5" descr="/home/claude/deck/icons/robot.png"/>
          <p:cNvPicPr>
            <a:picLocks noChangeAspect="1"/>
          </p:cNvPicPr>
          <p:nvPr/>
        </p:nvPicPr>
        <p:blipFill>
          <a:blip r:embed="rId8"/>
          <a:stretch>
            <a:fillRect/>
          </a:stretch>
        </p:blipFill>
        <p:spPr>
          <a:xfrm>
            <a:off x="6193917" y="5349621"/>
            <a:ext cx="276606" cy="276606"/>
          </a:xfrm>
          <a:prstGeom prst="rect">
            <a:avLst/>
          </a:prstGeom>
        </p:spPr>
      </p:pic>
      <p:sp>
        <p:nvSpPr>
          <p:cNvPr id="32" name="Text 24"/>
          <p:cNvSpPr txBox="1"/>
          <p:nvPr/>
        </p:nvSpPr>
        <p:spPr>
          <a:xfrm>
            <a:off x="6720840" y="4922520"/>
            <a:ext cx="1828800" cy="365760"/>
          </a:xfrm>
          <a:prstGeom prst="rect">
            <a:avLst/>
          </a:prstGeom>
          <a:noFill/>
          <a:ln/>
        </p:spPr>
        <p:txBody>
          <a:bodyPr wrap="square" lIns="0" tIns="0" rIns="0" bIns="0" rtlCol="0" anchor="t"/>
          <a:lstStyle/>
          <a:p>
            <a:pPr marL="0" indent="0">
              <a:buNone/>
            </a:pPr>
            <a:r>
              <a:rPr lang="en-US" sz="1250" b="1" dirty="0">
                <a:solidFill>
                  <a:srgbClr val="0E2A2C"/>
                </a:solidFill>
                <a:latin typeface="Calibri" pitchFamily="34" charset="0"/>
                <a:ea typeface="Calibri" pitchFamily="34" charset="-122"/>
                <a:cs typeface="Calibri" pitchFamily="34" charset="-120"/>
              </a:rPr>
              <a:t>GenAI Explanation</a:t>
            </a:r>
            <a:endParaRPr lang="en-US" sz="1250" dirty="0"/>
          </a:p>
        </p:txBody>
      </p:sp>
      <p:sp>
        <p:nvSpPr>
          <p:cNvPr id="33" name="Text 25"/>
          <p:cNvSpPr txBox="1"/>
          <p:nvPr/>
        </p:nvSpPr>
        <p:spPr>
          <a:xfrm>
            <a:off x="6720840" y="5288280"/>
            <a:ext cx="1828800" cy="819912"/>
          </a:xfrm>
          <a:prstGeom prst="rect">
            <a:avLst/>
          </a:prstGeom>
          <a:noFill/>
          <a:ln/>
        </p:spPr>
        <p:txBody>
          <a:bodyPr wrap="square" lIns="0" tIns="0" rIns="0" bIns="0" rtlCol="0" anchor="t"/>
          <a:lstStyle/>
          <a:p>
            <a:pPr marL="0" indent="0">
              <a:lnSpc>
                <a:spcPct val="110000"/>
              </a:lnSpc>
              <a:buNone/>
            </a:pPr>
            <a:r>
              <a:rPr lang="en-US" sz="1050" dirty="0">
                <a:solidFill>
                  <a:srgbClr val="4E6A6C"/>
                </a:solidFill>
                <a:latin typeface="Calibri" pitchFamily="34" charset="0"/>
                <a:ea typeface="Calibri" pitchFamily="34" charset="-122"/>
                <a:cs typeface="Calibri" pitchFamily="34" charset="-120"/>
              </a:rPr>
              <a:t>Plain-language result summary</a:t>
            </a:r>
            <a:endParaRPr lang="en-US" sz="1050" dirty="0"/>
          </a:p>
        </p:txBody>
      </p:sp>
      <p:sp>
        <p:nvSpPr>
          <p:cNvPr id="34" name="Shape 26"/>
          <p:cNvSpPr/>
          <p:nvPr/>
        </p:nvSpPr>
        <p:spPr>
          <a:xfrm>
            <a:off x="8851392" y="4757928"/>
            <a:ext cx="2788920" cy="1459992"/>
          </a:xfrm>
          <a:prstGeom prst="roundRect">
            <a:avLst>
              <a:gd name="adj" fmla="val 5010"/>
            </a:avLst>
          </a:prstGeom>
          <a:solidFill>
            <a:srgbClr val="FFFFFF"/>
          </a:solidFill>
          <a:ln w="12700">
            <a:solidFill>
              <a:srgbClr val="D9E7E6"/>
            </a:solidFill>
            <a:prstDash val="solid"/>
          </a:ln>
        </p:spPr>
        <p:txBody>
          <a:bodyPr/>
          <a:lstStyle/>
          <a:p>
            <a:endParaRPr lang="en-IN"/>
          </a:p>
        </p:txBody>
      </p:sp>
      <p:sp>
        <p:nvSpPr>
          <p:cNvPr id="35" name="Shape 27"/>
          <p:cNvSpPr/>
          <p:nvPr/>
        </p:nvSpPr>
        <p:spPr>
          <a:xfrm>
            <a:off x="9034272" y="5236464"/>
            <a:ext cx="502920" cy="502920"/>
          </a:xfrm>
          <a:prstGeom prst="ellipse">
            <a:avLst/>
          </a:prstGeom>
          <a:solidFill>
            <a:srgbClr val="00A896"/>
          </a:solidFill>
          <a:ln/>
        </p:spPr>
        <p:txBody>
          <a:bodyPr/>
          <a:lstStyle/>
          <a:p>
            <a:endParaRPr lang="en-IN"/>
          </a:p>
        </p:txBody>
      </p:sp>
      <p:pic>
        <p:nvPicPr>
          <p:cNvPr id="36" name="Image 6" descr="/home/claude/deck/icons/pdf.png"/>
          <p:cNvPicPr>
            <a:picLocks noChangeAspect="1"/>
          </p:cNvPicPr>
          <p:nvPr/>
        </p:nvPicPr>
        <p:blipFill>
          <a:blip r:embed="rId9"/>
          <a:stretch>
            <a:fillRect/>
          </a:stretch>
        </p:blipFill>
        <p:spPr>
          <a:xfrm>
            <a:off x="9147429" y="5349621"/>
            <a:ext cx="276606" cy="276606"/>
          </a:xfrm>
          <a:prstGeom prst="rect">
            <a:avLst/>
          </a:prstGeom>
        </p:spPr>
      </p:pic>
      <p:sp>
        <p:nvSpPr>
          <p:cNvPr id="37" name="Text 28"/>
          <p:cNvSpPr txBox="1"/>
          <p:nvPr/>
        </p:nvSpPr>
        <p:spPr>
          <a:xfrm>
            <a:off x="9674352" y="4922520"/>
            <a:ext cx="1828800" cy="365760"/>
          </a:xfrm>
          <a:prstGeom prst="rect">
            <a:avLst/>
          </a:prstGeom>
          <a:noFill/>
          <a:ln/>
        </p:spPr>
        <p:txBody>
          <a:bodyPr wrap="square" lIns="0" tIns="0" rIns="0" bIns="0" rtlCol="0" anchor="t"/>
          <a:lstStyle/>
          <a:p>
            <a:pPr marL="0" indent="0">
              <a:buNone/>
            </a:pPr>
            <a:r>
              <a:rPr lang="en-US" sz="1250" b="1" dirty="0">
                <a:solidFill>
                  <a:srgbClr val="0E2A2C"/>
                </a:solidFill>
                <a:latin typeface="Calibri" pitchFamily="34" charset="0"/>
                <a:ea typeface="Calibri" pitchFamily="34" charset="-122"/>
                <a:cs typeface="Calibri" pitchFamily="34" charset="-120"/>
              </a:rPr>
              <a:t>PDF Report</a:t>
            </a:r>
            <a:endParaRPr lang="en-US" sz="1250" dirty="0"/>
          </a:p>
        </p:txBody>
      </p:sp>
      <p:sp>
        <p:nvSpPr>
          <p:cNvPr id="38" name="Text 29"/>
          <p:cNvSpPr txBox="1"/>
          <p:nvPr/>
        </p:nvSpPr>
        <p:spPr>
          <a:xfrm>
            <a:off x="9674352" y="5288280"/>
            <a:ext cx="1828800" cy="819912"/>
          </a:xfrm>
          <a:prstGeom prst="rect">
            <a:avLst/>
          </a:prstGeom>
          <a:noFill/>
          <a:ln/>
        </p:spPr>
        <p:txBody>
          <a:bodyPr wrap="square" lIns="0" tIns="0" rIns="0" bIns="0" rtlCol="0" anchor="t"/>
          <a:lstStyle/>
          <a:p>
            <a:pPr marL="0" indent="0">
              <a:lnSpc>
                <a:spcPct val="110000"/>
              </a:lnSpc>
              <a:buNone/>
            </a:pPr>
            <a:r>
              <a:rPr lang="en-US" sz="1050" dirty="0">
                <a:solidFill>
                  <a:srgbClr val="4E6A6C"/>
                </a:solidFill>
                <a:latin typeface="Calibri" pitchFamily="34" charset="0"/>
                <a:ea typeface="Calibri" pitchFamily="34" charset="-122"/>
                <a:cs typeface="Calibri" pitchFamily="34" charset="-120"/>
              </a:rPr>
              <a:t>Shareable assessment report</a:t>
            </a:r>
            <a:endParaRPr lang="en-US" sz="1050" dirty="0"/>
          </a:p>
        </p:txBody>
      </p:sp>
      <p:sp>
        <p:nvSpPr>
          <p:cNvPr id="40" name="Text 30"/>
          <p:cNvSpPr txBox="1"/>
          <p:nvPr/>
        </p:nvSpPr>
        <p:spPr>
          <a:xfrm>
            <a:off x="11548872" y="6473952"/>
            <a:ext cx="365760" cy="274320"/>
          </a:xfrm>
          <a:prstGeom prst="rect">
            <a:avLst/>
          </a:prstGeom>
          <a:noFill/>
          <a:ln/>
        </p:spPr>
        <p:txBody>
          <a:bodyPr wrap="square" lIns="0" tIns="0" rIns="0" bIns="0" rtlCol="0" anchor="ctr"/>
          <a:lstStyle/>
          <a:p>
            <a:pPr marL="0" indent="0" algn="r">
              <a:buNone/>
            </a:pPr>
            <a:r>
              <a:rPr lang="en-US" sz="1000" dirty="0">
                <a:solidFill>
                  <a:srgbClr val="4E6A6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AF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85800"/>
          </a:xfrm>
          <a:prstGeom prst="rect">
            <a:avLst/>
          </a:prstGeom>
          <a:noFill/>
          <a:ln/>
        </p:spPr>
        <p:txBody>
          <a:bodyPr wrap="square" lIns="0" tIns="0" rIns="0" bIns="0" rtlCol="0" anchor="ctr"/>
          <a:lstStyle/>
          <a:p>
            <a:pPr marL="0" indent="0" algn="l">
              <a:buNone/>
            </a:pPr>
            <a:r>
              <a:rPr lang="en-US" sz="3000" b="1" dirty="0">
                <a:solidFill>
                  <a:srgbClr val="0E2A2C"/>
                </a:solidFill>
                <a:latin typeface="Cambria" pitchFamily="34" charset="0"/>
                <a:ea typeface="Cambria" pitchFamily="34" charset="-122"/>
                <a:cs typeface="Cambria" pitchFamily="34" charset="-120"/>
              </a:rPr>
              <a:t>Proposed System &amp; Architecture</a:t>
            </a:r>
            <a:endParaRPr lang="en-US" sz="3000" dirty="0"/>
          </a:p>
        </p:txBody>
      </p:sp>
      <p:sp>
        <p:nvSpPr>
          <p:cNvPr id="3" name="Text 1"/>
          <p:cNvSpPr txBox="1"/>
          <p:nvPr/>
        </p:nvSpPr>
        <p:spPr>
          <a:xfrm>
            <a:off x="548640" y="987552"/>
            <a:ext cx="11091672" cy="365760"/>
          </a:xfrm>
          <a:prstGeom prst="rect">
            <a:avLst/>
          </a:prstGeom>
          <a:noFill/>
          <a:ln/>
        </p:spPr>
        <p:txBody>
          <a:bodyPr wrap="square" lIns="0" tIns="0" rIns="0" bIns="0" rtlCol="0" anchor="ctr"/>
          <a:lstStyle/>
          <a:p>
            <a:pPr marL="0" indent="0" algn="l">
              <a:buNone/>
            </a:pPr>
            <a:r>
              <a:rPr lang="en-US" sz="1300" i="1" dirty="0">
                <a:solidFill>
                  <a:srgbClr val="4E6A6C"/>
                </a:solidFill>
                <a:latin typeface="Calibri" pitchFamily="34" charset="0"/>
                <a:ea typeface="Calibri" pitchFamily="34" charset="-122"/>
                <a:cs typeface="Calibri" pitchFamily="34" charset="-120"/>
              </a:rPr>
              <a:t>End-to-end request flow: browser to database/ML/GenAI and back to a report</a:t>
            </a:r>
            <a:endParaRPr lang="en-US" sz="1300" dirty="0"/>
          </a:p>
        </p:txBody>
      </p:sp>
      <p:sp>
        <p:nvSpPr>
          <p:cNvPr id="4" name="Shape 2"/>
          <p:cNvSpPr/>
          <p:nvPr/>
        </p:nvSpPr>
        <p:spPr>
          <a:xfrm>
            <a:off x="548640" y="1463040"/>
            <a:ext cx="11091672" cy="3611880"/>
          </a:xfrm>
          <a:prstGeom prst="roundRect">
            <a:avLst>
              <a:gd name="adj" fmla="val 2254"/>
            </a:avLst>
          </a:prstGeom>
          <a:solidFill>
            <a:srgbClr val="FFFFFF"/>
          </a:solidFill>
          <a:ln w="12700">
            <a:solidFill>
              <a:srgbClr val="D9E7E6"/>
            </a:solidFill>
            <a:prstDash val="solid"/>
          </a:ln>
          <a:effectLst>
            <a:outerShdw blurRad="76200" dist="25400" dir="5400000" algn="bl" rotWithShape="0">
              <a:srgbClr val="1B2B2B">
                <a:alpha val="12000"/>
              </a:srgbClr>
            </a:outerShdw>
          </a:effectLst>
        </p:spPr>
        <p:txBody>
          <a:bodyPr/>
          <a:lstStyle/>
          <a:p>
            <a:endParaRPr lang="en-IN"/>
          </a:p>
        </p:txBody>
      </p:sp>
      <p:sp>
        <p:nvSpPr>
          <p:cNvPr id="5" name="Shape 3"/>
          <p:cNvSpPr/>
          <p:nvPr/>
        </p:nvSpPr>
        <p:spPr>
          <a:xfrm>
            <a:off x="868680" y="1783080"/>
            <a:ext cx="2331720" cy="594360"/>
          </a:xfrm>
          <a:prstGeom prst="roundRect">
            <a:avLst>
              <a:gd name="adj" fmla="val 9231"/>
            </a:avLst>
          </a:prstGeom>
          <a:solidFill>
            <a:srgbClr val="0E2A2C"/>
          </a:solidFill>
          <a:ln/>
        </p:spPr>
        <p:txBody>
          <a:bodyPr/>
          <a:lstStyle/>
          <a:p>
            <a:endParaRPr lang="en-IN"/>
          </a:p>
        </p:txBody>
      </p:sp>
      <p:sp>
        <p:nvSpPr>
          <p:cNvPr id="6" name="Text 4"/>
          <p:cNvSpPr txBox="1"/>
          <p:nvPr/>
        </p:nvSpPr>
        <p:spPr>
          <a:xfrm>
            <a:off x="914400" y="1783080"/>
            <a:ext cx="2240280" cy="5943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User</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(authenticated)</a:t>
            </a:r>
            <a:endParaRPr lang="en-US" sz="1050" dirty="0"/>
          </a:p>
        </p:txBody>
      </p:sp>
      <p:sp>
        <p:nvSpPr>
          <p:cNvPr id="7" name="Shape 5"/>
          <p:cNvSpPr/>
          <p:nvPr/>
        </p:nvSpPr>
        <p:spPr>
          <a:xfrm>
            <a:off x="3255264" y="1997964"/>
            <a:ext cx="502920" cy="164592"/>
          </a:xfrm>
          <a:prstGeom prst="rightArrow">
            <a:avLst/>
          </a:prstGeom>
          <a:solidFill>
            <a:srgbClr val="028090"/>
          </a:solidFill>
          <a:ln/>
        </p:spPr>
        <p:txBody>
          <a:bodyPr/>
          <a:lstStyle/>
          <a:p>
            <a:endParaRPr lang="en-IN"/>
          </a:p>
        </p:txBody>
      </p:sp>
      <p:sp>
        <p:nvSpPr>
          <p:cNvPr id="8" name="Shape 6"/>
          <p:cNvSpPr/>
          <p:nvPr/>
        </p:nvSpPr>
        <p:spPr>
          <a:xfrm>
            <a:off x="3840480" y="1783080"/>
            <a:ext cx="2331720" cy="594360"/>
          </a:xfrm>
          <a:prstGeom prst="roundRect">
            <a:avLst>
              <a:gd name="adj" fmla="val 9231"/>
            </a:avLst>
          </a:prstGeom>
          <a:solidFill>
            <a:srgbClr val="028090"/>
          </a:solidFill>
          <a:ln/>
        </p:spPr>
        <p:txBody>
          <a:bodyPr/>
          <a:lstStyle/>
          <a:p>
            <a:endParaRPr lang="en-IN"/>
          </a:p>
        </p:txBody>
      </p:sp>
      <p:sp>
        <p:nvSpPr>
          <p:cNvPr id="9" name="Text 7"/>
          <p:cNvSpPr txBox="1"/>
          <p:nvPr/>
        </p:nvSpPr>
        <p:spPr>
          <a:xfrm>
            <a:off x="3886200" y="1783080"/>
            <a:ext cx="2240280" cy="5943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React Frontend</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(Vite + Tailwind)</a:t>
            </a:r>
            <a:endParaRPr lang="en-US" sz="1050" dirty="0"/>
          </a:p>
        </p:txBody>
      </p:sp>
      <p:sp>
        <p:nvSpPr>
          <p:cNvPr id="10" name="Shape 8"/>
          <p:cNvSpPr/>
          <p:nvPr/>
        </p:nvSpPr>
        <p:spPr>
          <a:xfrm>
            <a:off x="6227064" y="1997964"/>
            <a:ext cx="502920" cy="164592"/>
          </a:xfrm>
          <a:prstGeom prst="rightArrow">
            <a:avLst/>
          </a:prstGeom>
          <a:solidFill>
            <a:srgbClr val="028090"/>
          </a:solidFill>
          <a:ln/>
        </p:spPr>
        <p:txBody>
          <a:bodyPr/>
          <a:lstStyle/>
          <a:p>
            <a:endParaRPr lang="en-IN"/>
          </a:p>
        </p:txBody>
      </p:sp>
      <p:sp>
        <p:nvSpPr>
          <p:cNvPr id="11" name="Shape 9"/>
          <p:cNvSpPr/>
          <p:nvPr/>
        </p:nvSpPr>
        <p:spPr>
          <a:xfrm>
            <a:off x="6812280" y="1783080"/>
            <a:ext cx="2331720" cy="594360"/>
          </a:xfrm>
          <a:prstGeom prst="roundRect">
            <a:avLst>
              <a:gd name="adj" fmla="val 9231"/>
            </a:avLst>
          </a:prstGeom>
          <a:solidFill>
            <a:srgbClr val="028090"/>
          </a:solidFill>
          <a:ln/>
        </p:spPr>
        <p:txBody>
          <a:bodyPr/>
          <a:lstStyle/>
          <a:p>
            <a:endParaRPr lang="en-IN"/>
          </a:p>
        </p:txBody>
      </p:sp>
      <p:sp>
        <p:nvSpPr>
          <p:cNvPr id="12" name="Text 10"/>
          <p:cNvSpPr txBox="1"/>
          <p:nvPr/>
        </p:nvSpPr>
        <p:spPr>
          <a:xfrm>
            <a:off x="6858000" y="1783080"/>
            <a:ext cx="2240280" cy="5943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FastAPI Backend</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(REST API)</a:t>
            </a:r>
            <a:endParaRPr lang="en-US" sz="1050" dirty="0"/>
          </a:p>
        </p:txBody>
      </p:sp>
      <p:sp>
        <p:nvSpPr>
          <p:cNvPr id="13" name="Shape 11"/>
          <p:cNvSpPr/>
          <p:nvPr/>
        </p:nvSpPr>
        <p:spPr>
          <a:xfrm>
            <a:off x="7978140" y="2377440"/>
            <a:ext cx="0" cy="502920"/>
          </a:xfrm>
          <a:prstGeom prst="line">
            <a:avLst/>
          </a:prstGeom>
          <a:noFill/>
          <a:ln w="25400">
            <a:solidFill>
              <a:srgbClr val="00A896"/>
            </a:solidFill>
            <a:prstDash val="solid"/>
            <a:tailEnd type="triangle"/>
          </a:ln>
        </p:spPr>
        <p:txBody>
          <a:bodyPr/>
          <a:lstStyle/>
          <a:p>
            <a:endParaRPr lang="en-IN"/>
          </a:p>
        </p:txBody>
      </p:sp>
      <p:sp>
        <p:nvSpPr>
          <p:cNvPr id="14" name="Shape 12"/>
          <p:cNvSpPr/>
          <p:nvPr/>
        </p:nvSpPr>
        <p:spPr>
          <a:xfrm>
            <a:off x="4366260" y="2926080"/>
            <a:ext cx="2194560" cy="914400"/>
          </a:xfrm>
          <a:prstGeom prst="roundRect">
            <a:avLst>
              <a:gd name="adj" fmla="val 8000"/>
            </a:avLst>
          </a:prstGeom>
          <a:solidFill>
            <a:srgbClr val="0B3639"/>
          </a:solidFill>
          <a:ln/>
        </p:spPr>
        <p:txBody>
          <a:bodyPr/>
          <a:lstStyle/>
          <a:p>
            <a:endParaRPr lang="en-IN"/>
          </a:p>
        </p:txBody>
      </p:sp>
      <p:sp>
        <p:nvSpPr>
          <p:cNvPr id="15" name="Shape 13"/>
          <p:cNvSpPr/>
          <p:nvPr/>
        </p:nvSpPr>
        <p:spPr>
          <a:xfrm>
            <a:off x="4503420" y="3090672"/>
            <a:ext cx="457200" cy="457200"/>
          </a:xfrm>
          <a:prstGeom prst="ellipse">
            <a:avLst/>
          </a:prstGeom>
          <a:solidFill>
            <a:srgbClr val="00A896"/>
          </a:solidFill>
          <a:ln/>
        </p:spPr>
        <p:txBody>
          <a:bodyPr/>
          <a:lstStyle/>
          <a:p>
            <a:endParaRPr lang="en-IN"/>
          </a:p>
        </p:txBody>
      </p:sp>
      <p:pic>
        <p:nvPicPr>
          <p:cNvPr id="16" name="Image 0" descr="/home/claude/deck/icons/database.png"/>
          <p:cNvPicPr>
            <a:picLocks noChangeAspect="1"/>
          </p:cNvPicPr>
          <p:nvPr/>
        </p:nvPicPr>
        <p:blipFill>
          <a:blip r:embed="rId3"/>
          <a:stretch>
            <a:fillRect/>
          </a:stretch>
        </p:blipFill>
        <p:spPr>
          <a:xfrm>
            <a:off x="4606290" y="3193542"/>
            <a:ext cx="251460" cy="251460"/>
          </a:xfrm>
          <a:prstGeom prst="rect">
            <a:avLst/>
          </a:prstGeom>
        </p:spPr>
      </p:pic>
      <p:sp>
        <p:nvSpPr>
          <p:cNvPr id="17" name="Text 14"/>
          <p:cNvSpPr txBox="1"/>
          <p:nvPr/>
        </p:nvSpPr>
        <p:spPr>
          <a:xfrm>
            <a:off x="5052060" y="3035808"/>
            <a:ext cx="13716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18" name="Text 15"/>
          <p:cNvSpPr txBox="1"/>
          <p:nvPr/>
        </p:nvSpPr>
        <p:spPr>
          <a:xfrm>
            <a:off x="5052060" y="3355848"/>
            <a:ext cx="1371600" cy="411480"/>
          </a:xfrm>
          <a:prstGeom prst="rect">
            <a:avLst/>
          </a:prstGeom>
          <a:noFill/>
          <a:ln/>
        </p:spPr>
        <p:txBody>
          <a:bodyPr wrap="square" lIns="0" tIns="0" rIns="0" bIns="0" rtlCol="0" anchor="t"/>
          <a:lstStyle/>
          <a:p>
            <a:pPr marL="0" indent="0">
              <a:buNone/>
            </a:pPr>
            <a:r>
              <a:rPr lang="en-US" sz="950" dirty="0">
                <a:solidFill>
                  <a:srgbClr val="BFE3E0"/>
                </a:solidFill>
                <a:latin typeface="Calibri" pitchFamily="34" charset="0"/>
                <a:ea typeface="Calibri" pitchFamily="34" charset="-122"/>
                <a:cs typeface="Calibri" pitchFamily="34" charset="-120"/>
              </a:rPr>
              <a:t>Patients &amp; assessment records</a:t>
            </a:r>
            <a:endParaRPr lang="en-US" sz="950" dirty="0"/>
          </a:p>
        </p:txBody>
      </p:sp>
      <p:sp>
        <p:nvSpPr>
          <p:cNvPr id="19" name="Shape 16"/>
          <p:cNvSpPr/>
          <p:nvPr/>
        </p:nvSpPr>
        <p:spPr>
          <a:xfrm>
            <a:off x="6880860" y="2926080"/>
            <a:ext cx="2194560" cy="914400"/>
          </a:xfrm>
          <a:prstGeom prst="roundRect">
            <a:avLst>
              <a:gd name="adj" fmla="val 8000"/>
            </a:avLst>
          </a:prstGeom>
          <a:solidFill>
            <a:srgbClr val="0B3639"/>
          </a:solidFill>
          <a:ln/>
        </p:spPr>
        <p:txBody>
          <a:bodyPr/>
          <a:lstStyle/>
          <a:p>
            <a:endParaRPr lang="en-IN"/>
          </a:p>
        </p:txBody>
      </p:sp>
      <p:sp>
        <p:nvSpPr>
          <p:cNvPr id="20" name="Shape 17"/>
          <p:cNvSpPr/>
          <p:nvPr/>
        </p:nvSpPr>
        <p:spPr>
          <a:xfrm>
            <a:off x="7018020" y="3090672"/>
            <a:ext cx="457200" cy="457200"/>
          </a:xfrm>
          <a:prstGeom prst="ellipse">
            <a:avLst/>
          </a:prstGeom>
          <a:solidFill>
            <a:srgbClr val="00A896"/>
          </a:solidFill>
          <a:ln/>
        </p:spPr>
        <p:txBody>
          <a:bodyPr/>
          <a:lstStyle/>
          <a:p>
            <a:endParaRPr lang="en-IN"/>
          </a:p>
        </p:txBody>
      </p:sp>
      <p:pic>
        <p:nvPicPr>
          <p:cNvPr id="21" name="Image 1" descr="/home/claude/deck/icons/brain.png"/>
          <p:cNvPicPr>
            <a:picLocks noChangeAspect="1"/>
          </p:cNvPicPr>
          <p:nvPr/>
        </p:nvPicPr>
        <p:blipFill>
          <a:blip r:embed="rId4"/>
          <a:stretch>
            <a:fillRect/>
          </a:stretch>
        </p:blipFill>
        <p:spPr>
          <a:xfrm>
            <a:off x="7120890" y="3193542"/>
            <a:ext cx="251460" cy="251460"/>
          </a:xfrm>
          <a:prstGeom prst="rect">
            <a:avLst/>
          </a:prstGeom>
        </p:spPr>
      </p:pic>
      <p:sp>
        <p:nvSpPr>
          <p:cNvPr id="22" name="Text 18"/>
          <p:cNvSpPr txBox="1"/>
          <p:nvPr/>
        </p:nvSpPr>
        <p:spPr>
          <a:xfrm>
            <a:off x="7566660" y="3035808"/>
            <a:ext cx="13716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ML Model</a:t>
            </a:r>
            <a:endParaRPr lang="en-US" sz="1200" dirty="0"/>
          </a:p>
        </p:txBody>
      </p:sp>
      <p:sp>
        <p:nvSpPr>
          <p:cNvPr id="23" name="Text 19"/>
          <p:cNvSpPr txBox="1"/>
          <p:nvPr/>
        </p:nvSpPr>
        <p:spPr>
          <a:xfrm>
            <a:off x="7566660" y="3355848"/>
            <a:ext cx="1371600" cy="411480"/>
          </a:xfrm>
          <a:prstGeom prst="rect">
            <a:avLst/>
          </a:prstGeom>
          <a:noFill/>
          <a:ln/>
        </p:spPr>
        <p:txBody>
          <a:bodyPr wrap="square" lIns="0" tIns="0" rIns="0" bIns="0" rtlCol="0" anchor="t"/>
          <a:lstStyle/>
          <a:p>
            <a:pPr marL="0" indent="0">
              <a:buNone/>
            </a:pPr>
            <a:r>
              <a:rPr lang="en-US" sz="950" dirty="0">
                <a:solidFill>
                  <a:srgbClr val="BFE3E0"/>
                </a:solidFill>
                <a:latin typeface="Calibri" pitchFamily="34" charset="0"/>
                <a:ea typeface="Calibri" pitchFamily="34" charset="-122"/>
                <a:cs typeface="Calibri" pitchFamily="34" charset="-120"/>
              </a:rPr>
              <a:t>Scikit-learn classifier</a:t>
            </a:r>
            <a:endParaRPr lang="en-US" sz="950" dirty="0"/>
          </a:p>
        </p:txBody>
      </p:sp>
      <p:sp>
        <p:nvSpPr>
          <p:cNvPr id="24" name="Shape 20"/>
          <p:cNvSpPr/>
          <p:nvPr/>
        </p:nvSpPr>
        <p:spPr>
          <a:xfrm>
            <a:off x="9395460" y="2926080"/>
            <a:ext cx="2194560" cy="914400"/>
          </a:xfrm>
          <a:prstGeom prst="roundRect">
            <a:avLst>
              <a:gd name="adj" fmla="val 8000"/>
            </a:avLst>
          </a:prstGeom>
          <a:solidFill>
            <a:srgbClr val="0B3639"/>
          </a:solidFill>
          <a:ln/>
        </p:spPr>
        <p:txBody>
          <a:bodyPr/>
          <a:lstStyle/>
          <a:p>
            <a:endParaRPr lang="en-IN"/>
          </a:p>
        </p:txBody>
      </p:sp>
      <p:sp>
        <p:nvSpPr>
          <p:cNvPr id="25" name="Shape 21"/>
          <p:cNvSpPr/>
          <p:nvPr/>
        </p:nvSpPr>
        <p:spPr>
          <a:xfrm>
            <a:off x="9532620" y="3090672"/>
            <a:ext cx="457200" cy="457200"/>
          </a:xfrm>
          <a:prstGeom prst="ellipse">
            <a:avLst/>
          </a:prstGeom>
          <a:solidFill>
            <a:srgbClr val="00A896"/>
          </a:solidFill>
          <a:ln/>
        </p:spPr>
        <p:txBody>
          <a:bodyPr/>
          <a:lstStyle/>
          <a:p>
            <a:endParaRPr lang="en-IN"/>
          </a:p>
        </p:txBody>
      </p:sp>
      <p:pic>
        <p:nvPicPr>
          <p:cNvPr id="26" name="Image 2" descr="/home/claude/deck/icons/robot.png"/>
          <p:cNvPicPr>
            <a:picLocks noChangeAspect="1"/>
          </p:cNvPicPr>
          <p:nvPr/>
        </p:nvPicPr>
        <p:blipFill>
          <a:blip r:embed="rId5"/>
          <a:stretch>
            <a:fillRect/>
          </a:stretch>
        </p:blipFill>
        <p:spPr>
          <a:xfrm>
            <a:off x="9635490" y="3193542"/>
            <a:ext cx="251460" cy="251460"/>
          </a:xfrm>
          <a:prstGeom prst="rect">
            <a:avLst/>
          </a:prstGeom>
        </p:spPr>
      </p:pic>
      <p:sp>
        <p:nvSpPr>
          <p:cNvPr id="27" name="Text 22"/>
          <p:cNvSpPr txBox="1"/>
          <p:nvPr/>
        </p:nvSpPr>
        <p:spPr>
          <a:xfrm>
            <a:off x="10081260" y="3035808"/>
            <a:ext cx="13716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Gemini API</a:t>
            </a:r>
            <a:endParaRPr lang="en-US" sz="1200" dirty="0"/>
          </a:p>
        </p:txBody>
      </p:sp>
      <p:sp>
        <p:nvSpPr>
          <p:cNvPr id="28" name="Text 23"/>
          <p:cNvSpPr txBox="1"/>
          <p:nvPr/>
        </p:nvSpPr>
        <p:spPr>
          <a:xfrm>
            <a:off x="10081260" y="3355848"/>
            <a:ext cx="1371600" cy="411480"/>
          </a:xfrm>
          <a:prstGeom prst="rect">
            <a:avLst/>
          </a:prstGeom>
          <a:noFill/>
          <a:ln/>
        </p:spPr>
        <p:txBody>
          <a:bodyPr wrap="square" lIns="0" tIns="0" rIns="0" bIns="0" rtlCol="0" anchor="t"/>
          <a:lstStyle/>
          <a:p>
            <a:pPr marL="0" indent="0">
              <a:buNone/>
            </a:pPr>
            <a:r>
              <a:rPr lang="en-US" sz="950" dirty="0">
                <a:solidFill>
                  <a:srgbClr val="BFE3E0"/>
                </a:solidFill>
                <a:latin typeface="Calibri" pitchFamily="34" charset="0"/>
                <a:ea typeface="Calibri" pitchFamily="34" charset="-122"/>
                <a:cs typeface="Calibri" pitchFamily="34" charset="-120"/>
              </a:rPr>
              <a:t>Generates the explanation</a:t>
            </a:r>
            <a:endParaRPr lang="en-US" sz="950" dirty="0"/>
          </a:p>
        </p:txBody>
      </p:sp>
      <p:sp>
        <p:nvSpPr>
          <p:cNvPr id="29" name="Shape 24"/>
          <p:cNvSpPr/>
          <p:nvPr/>
        </p:nvSpPr>
        <p:spPr>
          <a:xfrm>
            <a:off x="7978140" y="3840480"/>
            <a:ext cx="0" cy="411480"/>
          </a:xfrm>
          <a:prstGeom prst="line">
            <a:avLst/>
          </a:prstGeom>
          <a:noFill/>
          <a:ln w="25400">
            <a:solidFill>
              <a:srgbClr val="00A896"/>
            </a:solidFill>
            <a:prstDash val="solid"/>
            <a:tailEnd type="triangle"/>
          </a:ln>
        </p:spPr>
        <p:txBody>
          <a:bodyPr/>
          <a:lstStyle/>
          <a:p>
            <a:endParaRPr lang="en-IN"/>
          </a:p>
        </p:txBody>
      </p:sp>
      <p:sp>
        <p:nvSpPr>
          <p:cNvPr id="30" name="Shape 25"/>
          <p:cNvSpPr/>
          <p:nvPr/>
        </p:nvSpPr>
        <p:spPr>
          <a:xfrm>
            <a:off x="5463540" y="4270248"/>
            <a:ext cx="2377440" cy="594360"/>
          </a:xfrm>
          <a:prstGeom prst="roundRect">
            <a:avLst>
              <a:gd name="adj" fmla="val 9231"/>
            </a:avLst>
          </a:prstGeom>
          <a:solidFill>
            <a:srgbClr val="02C39A"/>
          </a:solidFill>
          <a:ln/>
        </p:spPr>
        <p:txBody>
          <a:bodyPr/>
          <a:lstStyle/>
          <a:p>
            <a:endParaRPr lang="en-IN"/>
          </a:p>
        </p:txBody>
      </p:sp>
      <p:sp>
        <p:nvSpPr>
          <p:cNvPr id="31" name="Text 26"/>
          <p:cNvSpPr txBox="1"/>
          <p:nvPr/>
        </p:nvSpPr>
        <p:spPr>
          <a:xfrm>
            <a:off x="5509260" y="4270248"/>
            <a:ext cx="2286000" cy="594360"/>
          </a:xfrm>
          <a:prstGeom prst="rect">
            <a:avLst/>
          </a:prstGeom>
          <a:noFill/>
          <a:ln/>
        </p:spPr>
        <p:txBody>
          <a:bodyPr wrap="square" lIns="0" tIns="0" rIns="0" bIns="0" rtlCol="0" anchor="ctr"/>
          <a:lstStyle/>
          <a:p>
            <a:pPr marL="0" indent="0" algn="ctr">
              <a:buNone/>
            </a:pPr>
            <a:r>
              <a:rPr lang="en-US" sz="1050" b="1" dirty="0">
                <a:solidFill>
                  <a:srgbClr val="0E2A2C"/>
                </a:solidFill>
                <a:latin typeface="Calibri" pitchFamily="34" charset="0"/>
                <a:ea typeface="Calibri" pitchFamily="34" charset="-122"/>
                <a:cs typeface="Calibri" pitchFamily="34" charset="-120"/>
              </a:rPr>
              <a:t>Assessment Result</a:t>
            </a:r>
            <a:endParaRPr lang="en-US" sz="1050" dirty="0"/>
          </a:p>
          <a:p>
            <a:pPr marL="0" indent="0" algn="ctr">
              <a:buNone/>
            </a:pPr>
            <a:r>
              <a:rPr lang="en-US" sz="1050" b="1" dirty="0">
                <a:solidFill>
                  <a:srgbClr val="0E2A2C"/>
                </a:solidFill>
                <a:latin typeface="Calibri" pitchFamily="34" charset="0"/>
                <a:ea typeface="Calibri" pitchFamily="34" charset="-122"/>
                <a:cs typeface="Calibri" pitchFamily="34" charset="-120"/>
              </a:rPr>
              <a:t>(shown on result page)</a:t>
            </a:r>
            <a:endParaRPr lang="en-US" sz="1050" dirty="0"/>
          </a:p>
        </p:txBody>
      </p:sp>
      <p:sp>
        <p:nvSpPr>
          <p:cNvPr id="32" name="Shape 27"/>
          <p:cNvSpPr/>
          <p:nvPr/>
        </p:nvSpPr>
        <p:spPr>
          <a:xfrm>
            <a:off x="7895844" y="4485132"/>
            <a:ext cx="457200" cy="164592"/>
          </a:xfrm>
          <a:prstGeom prst="rightArrow">
            <a:avLst/>
          </a:prstGeom>
          <a:solidFill>
            <a:srgbClr val="02C39A"/>
          </a:solidFill>
          <a:ln/>
        </p:spPr>
        <p:txBody>
          <a:bodyPr/>
          <a:lstStyle/>
          <a:p>
            <a:endParaRPr lang="en-IN"/>
          </a:p>
        </p:txBody>
      </p:sp>
      <p:sp>
        <p:nvSpPr>
          <p:cNvPr id="33" name="Shape 28"/>
          <p:cNvSpPr/>
          <p:nvPr/>
        </p:nvSpPr>
        <p:spPr>
          <a:xfrm>
            <a:off x="8407908" y="4270248"/>
            <a:ext cx="1417320" cy="594360"/>
          </a:xfrm>
          <a:prstGeom prst="roundRect">
            <a:avLst>
              <a:gd name="adj" fmla="val 9231"/>
            </a:avLst>
          </a:prstGeom>
          <a:solidFill>
            <a:srgbClr val="02C39A"/>
          </a:solidFill>
          <a:ln/>
        </p:spPr>
        <p:txBody>
          <a:bodyPr/>
          <a:lstStyle/>
          <a:p>
            <a:endParaRPr lang="en-IN"/>
          </a:p>
        </p:txBody>
      </p:sp>
      <p:sp>
        <p:nvSpPr>
          <p:cNvPr id="34" name="Text 29"/>
          <p:cNvSpPr txBox="1"/>
          <p:nvPr/>
        </p:nvSpPr>
        <p:spPr>
          <a:xfrm>
            <a:off x="8453628" y="4270248"/>
            <a:ext cx="1325880" cy="594360"/>
          </a:xfrm>
          <a:prstGeom prst="rect">
            <a:avLst/>
          </a:prstGeom>
          <a:noFill/>
          <a:ln/>
        </p:spPr>
        <p:txBody>
          <a:bodyPr wrap="square" lIns="0" tIns="0" rIns="0" bIns="0" rtlCol="0" anchor="ctr"/>
          <a:lstStyle/>
          <a:p>
            <a:pPr marL="0" indent="0" algn="ctr">
              <a:buNone/>
            </a:pPr>
            <a:r>
              <a:rPr lang="en-US" sz="1050" b="1" dirty="0">
                <a:solidFill>
                  <a:srgbClr val="0E2A2C"/>
                </a:solidFill>
                <a:latin typeface="Calibri" pitchFamily="34" charset="0"/>
                <a:ea typeface="Calibri" pitchFamily="34" charset="-122"/>
                <a:cs typeface="Calibri" pitchFamily="34" charset="-120"/>
              </a:rPr>
              <a:t>PDF Report</a:t>
            </a:r>
            <a:endParaRPr lang="en-US" sz="1050" dirty="0"/>
          </a:p>
        </p:txBody>
      </p:sp>
      <p:sp>
        <p:nvSpPr>
          <p:cNvPr id="35" name="Shape 30"/>
          <p:cNvSpPr/>
          <p:nvPr/>
        </p:nvSpPr>
        <p:spPr>
          <a:xfrm>
            <a:off x="550164" y="5282051"/>
            <a:ext cx="11091672" cy="1115568"/>
          </a:xfrm>
          <a:prstGeom prst="roundRect">
            <a:avLst>
              <a:gd name="adj" fmla="val 5333"/>
            </a:avLst>
          </a:prstGeom>
          <a:solidFill>
            <a:srgbClr val="FFFFFF"/>
          </a:solidFill>
          <a:ln w="12700">
            <a:solidFill>
              <a:srgbClr val="D9E7E6"/>
            </a:solidFill>
            <a:prstDash val="solid"/>
          </a:ln>
          <a:effectLst>
            <a:outerShdw blurRad="76200" dist="25400" dir="5400000" algn="bl" rotWithShape="0">
              <a:srgbClr val="1B2B2B">
                <a:alpha val="12000"/>
              </a:srgbClr>
            </a:outerShdw>
          </a:effectLst>
        </p:spPr>
        <p:txBody>
          <a:bodyPr/>
          <a:lstStyle/>
          <a:p>
            <a:endParaRPr lang="en-IN"/>
          </a:p>
        </p:txBody>
      </p:sp>
      <p:sp>
        <p:nvSpPr>
          <p:cNvPr id="36" name="Text 31"/>
          <p:cNvSpPr txBox="1"/>
          <p:nvPr/>
        </p:nvSpPr>
        <p:spPr>
          <a:xfrm>
            <a:off x="868680" y="5303520"/>
            <a:ext cx="5486400" cy="320040"/>
          </a:xfrm>
          <a:prstGeom prst="rect">
            <a:avLst/>
          </a:prstGeom>
          <a:noFill/>
          <a:ln/>
        </p:spPr>
        <p:txBody>
          <a:bodyPr wrap="square" lIns="0" tIns="0" rIns="0" bIns="0" rtlCol="0" anchor="ctr"/>
          <a:lstStyle/>
          <a:p>
            <a:pPr marL="0" indent="0" algn="l">
              <a:buNone/>
            </a:pPr>
            <a:r>
              <a:rPr lang="en-US" sz="1500" b="1" dirty="0">
                <a:solidFill>
                  <a:srgbClr val="028090"/>
                </a:solidFill>
                <a:latin typeface="Cambria" pitchFamily="34" charset="0"/>
                <a:ea typeface="Cambria" pitchFamily="34" charset="-122"/>
                <a:cs typeface="Cambria" pitchFamily="34" charset="-120"/>
              </a:rPr>
              <a:t>How it works</a:t>
            </a:r>
            <a:endParaRPr lang="en-US" sz="1500" dirty="0"/>
          </a:p>
        </p:txBody>
      </p:sp>
      <p:sp>
        <p:nvSpPr>
          <p:cNvPr id="37" name="Text 32"/>
          <p:cNvSpPr txBox="1"/>
          <p:nvPr/>
        </p:nvSpPr>
        <p:spPr>
          <a:xfrm>
            <a:off x="871728" y="5591357"/>
            <a:ext cx="10451592" cy="777240"/>
          </a:xfrm>
          <a:prstGeom prst="rect">
            <a:avLst/>
          </a:prstGeom>
          <a:noFill/>
          <a:ln/>
        </p:spPr>
        <p:txBody>
          <a:bodyPr wrap="square" lIns="0" tIns="0" rIns="0" bIns="0" rtlCol="0" anchor="t"/>
          <a:lstStyle/>
          <a:p>
            <a:pPr marL="0" indent="0">
              <a:lnSpc>
                <a:spcPct val="115000"/>
              </a:lnSpc>
              <a:buNone/>
            </a:pPr>
            <a:r>
              <a:rPr lang="en-US" sz="1200" dirty="0">
                <a:solidFill>
                  <a:srgbClr val="0E2A2C"/>
                </a:solidFill>
                <a:latin typeface="Calibri" pitchFamily="34" charset="0"/>
                <a:ea typeface="Calibri" pitchFamily="34" charset="-122"/>
                <a:cs typeface="Calibri" pitchFamily="34" charset="-120"/>
              </a:rPr>
              <a:t>The React frontend collects authenticated input and calls FastAPI. FastAPI validates and preprocesses the CTG data, runs it through the trained ML model, stores the record in PostgreSQL, and optionally calls Gemini to generate a plain-language explanation. The frontend then renders the result, contributing factors, history, and a report option.</a:t>
            </a:r>
            <a:endParaRPr lang="en-US" sz="1200" dirty="0"/>
          </a:p>
        </p:txBody>
      </p:sp>
      <p:sp>
        <p:nvSpPr>
          <p:cNvPr id="39" name="Text 33"/>
          <p:cNvSpPr txBox="1"/>
          <p:nvPr/>
        </p:nvSpPr>
        <p:spPr>
          <a:xfrm>
            <a:off x="11548872" y="6473952"/>
            <a:ext cx="365760" cy="274320"/>
          </a:xfrm>
          <a:prstGeom prst="rect">
            <a:avLst/>
          </a:prstGeom>
          <a:noFill/>
          <a:ln/>
        </p:spPr>
        <p:txBody>
          <a:bodyPr wrap="square" lIns="0" tIns="0" rIns="0" bIns="0" rtlCol="0" anchor="ctr"/>
          <a:lstStyle/>
          <a:p>
            <a:pPr marL="0" indent="0" algn="r">
              <a:buNone/>
            </a:pPr>
            <a:r>
              <a:rPr lang="en-US" sz="1000" dirty="0">
                <a:solidFill>
                  <a:srgbClr val="4E6A6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AF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85800"/>
          </a:xfrm>
          <a:prstGeom prst="rect">
            <a:avLst/>
          </a:prstGeom>
          <a:noFill/>
          <a:ln/>
        </p:spPr>
        <p:txBody>
          <a:bodyPr wrap="square" lIns="0" tIns="0" rIns="0" bIns="0" rtlCol="0" anchor="ctr"/>
          <a:lstStyle/>
          <a:p>
            <a:pPr marL="0" indent="0" algn="l">
              <a:buNone/>
            </a:pPr>
            <a:r>
              <a:rPr lang="en-US" sz="3000" b="1" dirty="0">
                <a:solidFill>
                  <a:srgbClr val="0E2A2C"/>
                </a:solidFill>
                <a:latin typeface="Cambria" pitchFamily="34" charset="0"/>
                <a:ea typeface="Cambria" pitchFamily="34" charset="-122"/>
                <a:cs typeface="Cambria" pitchFamily="34" charset="-120"/>
              </a:rPr>
              <a:t>Machine Learning Model &amp; Prediction</a:t>
            </a:r>
            <a:endParaRPr lang="en-US" sz="3000" dirty="0"/>
          </a:p>
        </p:txBody>
      </p:sp>
      <p:sp>
        <p:nvSpPr>
          <p:cNvPr id="3" name="Text 1"/>
          <p:cNvSpPr txBox="1"/>
          <p:nvPr/>
        </p:nvSpPr>
        <p:spPr>
          <a:xfrm>
            <a:off x="548640" y="987552"/>
            <a:ext cx="11091672" cy="365760"/>
          </a:xfrm>
          <a:prstGeom prst="rect">
            <a:avLst/>
          </a:prstGeom>
          <a:noFill/>
          <a:ln/>
        </p:spPr>
        <p:txBody>
          <a:bodyPr wrap="square" lIns="0" tIns="0" rIns="0" bIns="0" rtlCol="0" anchor="ctr"/>
          <a:lstStyle/>
          <a:p>
            <a:pPr marL="0" indent="0" algn="l">
              <a:buNone/>
            </a:pPr>
            <a:r>
              <a:rPr lang="en-US" sz="1300" i="1" dirty="0">
                <a:solidFill>
                  <a:srgbClr val="4E6A6C"/>
                </a:solidFill>
                <a:latin typeface="Calibri" pitchFamily="34" charset="0"/>
                <a:ea typeface="Calibri" pitchFamily="34" charset="-122"/>
                <a:cs typeface="Calibri" pitchFamily="34" charset="-120"/>
              </a:rPr>
              <a:t>Kaggle Fetal Health Classification dataset — three-class CTG classification</a:t>
            </a:r>
            <a:endParaRPr lang="en-US" sz="1300" dirty="0"/>
          </a:p>
        </p:txBody>
      </p:sp>
      <p:sp>
        <p:nvSpPr>
          <p:cNvPr id="4" name="Shape 2"/>
          <p:cNvSpPr/>
          <p:nvPr/>
        </p:nvSpPr>
        <p:spPr>
          <a:xfrm>
            <a:off x="548640" y="1508760"/>
            <a:ext cx="3246120" cy="1051560"/>
          </a:xfrm>
          <a:prstGeom prst="roundRect">
            <a:avLst>
              <a:gd name="adj" fmla="val 6957"/>
            </a:avLst>
          </a:prstGeom>
          <a:solidFill>
            <a:srgbClr val="FFFFFF"/>
          </a:solidFill>
          <a:ln w="12700">
            <a:solidFill>
              <a:srgbClr val="D9E7E6"/>
            </a:solidFill>
            <a:prstDash val="solid"/>
          </a:ln>
        </p:spPr>
        <p:txBody>
          <a:bodyPr/>
          <a:lstStyle/>
          <a:p>
            <a:endParaRPr lang="en-IN"/>
          </a:p>
        </p:txBody>
      </p:sp>
      <p:sp>
        <p:nvSpPr>
          <p:cNvPr id="5" name="Shape 3"/>
          <p:cNvSpPr/>
          <p:nvPr/>
        </p:nvSpPr>
        <p:spPr>
          <a:xfrm>
            <a:off x="548640" y="1508760"/>
            <a:ext cx="109728" cy="1051560"/>
          </a:xfrm>
          <a:prstGeom prst="roundRect">
            <a:avLst>
              <a:gd name="adj" fmla="val 16667"/>
            </a:avLst>
          </a:prstGeom>
          <a:solidFill>
            <a:srgbClr val="1E9E6B"/>
          </a:solidFill>
          <a:ln/>
        </p:spPr>
        <p:txBody>
          <a:bodyPr/>
          <a:lstStyle/>
          <a:p>
            <a:endParaRPr lang="en-IN"/>
          </a:p>
        </p:txBody>
      </p:sp>
      <p:sp>
        <p:nvSpPr>
          <p:cNvPr id="6" name="Text 4"/>
          <p:cNvSpPr txBox="1"/>
          <p:nvPr/>
        </p:nvSpPr>
        <p:spPr>
          <a:xfrm>
            <a:off x="868680" y="1508760"/>
            <a:ext cx="2788920" cy="1051560"/>
          </a:xfrm>
          <a:prstGeom prst="rect">
            <a:avLst/>
          </a:prstGeom>
          <a:noFill/>
          <a:ln/>
        </p:spPr>
        <p:txBody>
          <a:bodyPr wrap="square" lIns="0" tIns="0" rIns="0" bIns="0" rtlCol="0" anchor="ctr"/>
          <a:lstStyle/>
          <a:p>
            <a:pPr marL="0" indent="0">
              <a:buNone/>
            </a:pPr>
            <a:r>
              <a:rPr lang="en-US" sz="1500" b="1" dirty="0">
                <a:solidFill>
                  <a:srgbClr val="0E2A2C"/>
                </a:solidFill>
                <a:latin typeface="Cambria" pitchFamily="34" charset="0"/>
                <a:ea typeface="Cambria" pitchFamily="34" charset="-122"/>
                <a:cs typeface="Cambria" pitchFamily="34" charset="-120"/>
              </a:rPr>
              <a:t>1 — Normal</a:t>
            </a:r>
            <a:endParaRPr lang="en-US" sz="1500" dirty="0"/>
          </a:p>
        </p:txBody>
      </p:sp>
      <p:sp>
        <p:nvSpPr>
          <p:cNvPr id="7" name="Shape 5"/>
          <p:cNvSpPr/>
          <p:nvPr/>
        </p:nvSpPr>
        <p:spPr>
          <a:xfrm>
            <a:off x="548640" y="2724912"/>
            <a:ext cx="3246120" cy="1051560"/>
          </a:xfrm>
          <a:prstGeom prst="roundRect">
            <a:avLst>
              <a:gd name="adj" fmla="val 6957"/>
            </a:avLst>
          </a:prstGeom>
          <a:solidFill>
            <a:srgbClr val="FFFFFF"/>
          </a:solidFill>
          <a:ln w="12700">
            <a:solidFill>
              <a:srgbClr val="D9E7E6"/>
            </a:solidFill>
            <a:prstDash val="solid"/>
          </a:ln>
        </p:spPr>
        <p:txBody>
          <a:bodyPr/>
          <a:lstStyle/>
          <a:p>
            <a:endParaRPr lang="en-IN"/>
          </a:p>
        </p:txBody>
      </p:sp>
      <p:sp>
        <p:nvSpPr>
          <p:cNvPr id="8" name="Shape 6"/>
          <p:cNvSpPr/>
          <p:nvPr/>
        </p:nvSpPr>
        <p:spPr>
          <a:xfrm>
            <a:off x="548640" y="2724912"/>
            <a:ext cx="109728" cy="1051560"/>
          </a:xfrm>
          <a:prstGeom prst="roundRect">
            <a:avLst>
              <a:gd name="adj" fmla="val 16667"/>
            </a:avLst>
          </a:prstGeom>
          <a:solidFill>
            <a:srgbClr val="E8A33D"/>
          </a:solidFill>
          <a:ln/>
        </p:spPr>
        <p:txBody>
          <a:bodyPr/>
          <a:lstStyle/>
          <a:p>
            <a:endParaRPr lang="en-IN"/>
          </a:p>
        </p:txBody>
      </p:sp>
      <p:sp>
        <p:nvSpPr>
          <p:cNvPr id="9" name="Text 7"/>
          <p:cNvSpPr txBox="1"/>
          <p:nvPr/>
        </p:nvSpPr>
        <p:spPr>
          <a:xfrm>
            <a:off x="868680" y="2724912"/>
            <a:ext cx="2788920" cy="1051560"/>
          </a:xfrm>
          <a:prstGeom prst="rect">
            <a:avLst/>
          </a:prstGeom>
          <a:noFill/>
          <a:ln/>
        </p:spPr>
        <p:txBody>
          <a:bodyPr wrap="square" lIns="0" tIns="0" rIns="0" bIns="0" rtlCol="0" anchor="ctr"/>
          <a:lstStyle/>
          <a:p>
            <a:pPr marL="0" indent="0">
              <a:buNone/>
            </a:pPr>
            <a:r>
              <a:rPr lang="en-US" sz="1500" b="1" dirty="0">
                <a:solidFill>
                  <a:srgbClr val="0E2A2C"/>
                </a:solidFill>
                <a:latin typeface="Cambria" pitchFamily="34" charset="0"/>
                <a:ea typeface="Cambria" pitchFamily="34" charset="-122"/>
                <a:cs typeface="Cambria" pitchFamily="34" charset="-120"/>
              </a:rPr>
              <a:t>2 — Suspect</a:t>
            </a:r>
            <a:endParaRPr lang="en-US" sz="1500" dirty="0"/>
          </a:p>
        </p:txBody>
      </p:sp>
      <p:sp>
        <p:nvSpPr>
          <p:cNvPr id="10" name="Shape 8"/>
          <p:cNvSpPr/>
          <p:nvPr/>
        </p:nvSpPr>
        <p:spPr>
          <a:xfrm>
            <a:off x="548640" y="3941064"/>
            <a:ext cx="3246120" cy="1051560"/>
          </a:xfrm>
          <a:prstGeom prst="roundRect">
            <a:avLst>
              <a:gd name="adj" fmla="val 6957"/>
            </a:avLst>
          </a:prstGeom>
          <a:solidFill>
            <a:srgbClr val="FFFFFF"/>
          </a:solidFill>
          <a:ln w="12700">
            <a:solidFill>
              <a:srgbClr val="D9E7E6"/>
            </a:solidFill>
            <a:prstDash val="solid"/>
          </a:ln>
        </p:spPr>
        <p:txBody>
          <a:bodyPr/>
          <a:lstStyle/>
          <a:p>
            <a:endParaRPr lang="en-IN"/>
          </a:p>
        </p:txBody>
      </p:sp>
      <p:sp>
        <p:nvSpPr>
          <p:cNvPr id="11" name="Shape 9"/>
          <p:cNvSpPr/>
          <p:nvPr/>
        </p:nvSpPr>
        <p:spPr>
          <a:xfrm>
            <a:off x="548640" y="3941064"/>
            <a:ext cx="109728" cy="1051560"/>
          </a:xfrm>
          <a:prstGeom prst="roundRect">
            <a:avLst>
              <a:gd name="adj" fmla="val 16667"/>
            </a:avLst>
          </a:prstGeom>
          <a:solidFill>
            <a:srgbClr val="D1495B"/>
          </a:solidFill>
          <a:ln/>
        </p:spPr>
        <p:txBody>
          <a:bodyPr/>
          <a:lstStyle/>
          <a:p>
            <a:endParaRPr lang="en-IN"/>
          </a:p>
        </p:txBody>
      </p:sp>
      <p:sp>
        <p:nvSpPr>
          <p:cNvPr id="12" name="Text 10"/>
          <p:cNvSpPr txBox="1"/>
          <p:nvPr/>
        </p:nvSpPr>
        <p:spPr>
          <a:xfrm>
            <a:off x="868680" y="3941064"/>
            <a:ext cx="2788920" cy="1051560"/>
          </a:xfrm>
          <a:prstGeom prst="rect">
            <a:avLst/>
          </a:prstGeom>
          <a:noFill/>
          <a:ln/>
        </p:spPr>
        <p:txBody>
          <a:bodyPr wrap="square" lIns="0" tIns="0" rIns="0" bIns="0" rtlCol="0" anchor="ctr"/>
          <a:lstStyle/>
          <a:p>
            <a:pPr marL="0" indent="0">
              <a:buNone/>
            </a:pPr>
            <a:r>
              <a:rPr lang="en-US" sz="1500" b="1" dirty="0">
                <a:solidFill>
                  <a:srgbClr val="0E2A2C"/>
                </a:solidFill>
                <a:latin typeface="Cambria" pitchFamily="34" charset="0"/>
                <a:ea typeface="Cambria" pitchFamily="34" charset="-122"/>
                <a:cs typeface="Cambria" pitchFamily="34" charset="-120"/>
              </a:rPr>
              <a:t>3 — Pathological</a:t>
            </a:r>
            <a:endParaRPr lang="en-US" sz="1500" dirty="0"/>
          </a:p>
        </p:txBody>
      </p:sp>
      <p:sp>
        <p:nvSpPr>
          <p:cNvPr id="13" name="Shape 11"/>
          <p:cNvSpPr/>
          <p:nvPr/>
        </p:nvSpPr>
        <p:spPr>
          <a:xfrm>
            <a:off x="4023360" y="1508760"/>
            <a:ext cx="3749040" cy="3429000"/>
          </a:xfrm>
          <a:prstGeom prst="roundRect">
            <a:avLst>
              <a:gd name="adj" fmla="val 2133"/>
            </a:avLst>
          </a:prstGeom>
          <a:solidFill>
            <a:srgbClr val="FFFFFF"/>
          </a:solidFill>
          <a:ln w="12700">
            <a:solidFill>
              <a:srgbClr val="D9E7E6"/>
            </a:solidFill>
            <a:prstDash val="solid"/>
          </a:ln>
          <a:effectLst>
            <a:outerShdw blurRad="76200" dist="25400" dir="5400000" algn="bl" rotWithShape="0">
              <a:srgbClr val="1B2B2B">
                <a:alpha val="12000"/>
              </a:srgbClr>
            </a:outerShdw>
          </a:effectLst>
        </p:spPr>
        <p:txBody>
          <a:bodyPr/>
          <a:lstStyle/>
          <a:p>
            <a:endParaRPr lang="en-IN"/>
          </a:p>
        </p:txBody>
      </p:sp>
      <p:sp>
        <p:nvSpPr>
          <p:cNvPr id="14" name="Shape 12"/>
          <p:cNvSpPr/>
          <p:nvPr/>
        </p:nvSpPr>
        <p:spPr>
          <a:xfrm>
            <a:off x="4297680" y="1737360"/>
            <a:ext cx="438912" cy="438912"/>
          </a:xfrm>
          <a:prstGeom prst="ellipse">
            <a:avLst/>
          </a:prstGeom>
          <a:solidFill>
            <a:srgbClr val="028090"/>
          </a:solidFill>
          <a:ln/>
        </p:spPr>
        <p:txBody>
          <a:bodyPr/>
          <a:lstStyle/>
          <a:p>
            <a:endParaRPr lang="en-IN"/>
          </a:p>
        </p:txBody>
      </p:sp>
      <p:pic>
        <p:nvPicPr>
          <p:cNvPr id="15" name="Image 0" descr="/home/claude/deck/icons/brain.png"/>
          <p:cNvPicPr>
            <a:picLocks noChangeAspect="1"/>
          </p:cNvPicPr>
          <p:nvPr/>
        </p:nvPicPr>
        <p:blipFill>
          <a:blip r:embed="rId3"/>
          <a:stretch>
            <a:fillRect/>
          </a:stretch>
        </p:blipFill>
        <p:spPr>
          <a:xfrm>
            <a:off x="4396435" y="1836115"/>
            <a:ext cx="241402" cy="241402"/>
          </a:xfrm>
          <a:prstGeom prst="rect">
            <a:avLst/>
          </a:prstGeom>
        </p:spPr>
      </p:pic>
      <p:sp>
        <p:nvSpPr>
          <p:cNvPr id="16" name="Text 13"/>
          <p:cNvSpPr txBox="1"/>
          <p:nvPr/>
        </p:nvSpPr>
        <p:spPr>
          <a:xfrm>
            <a:off x="4846320" y="1737360"/>
            <a:ext cx="2834640" cy="438912"/>
          </a:xfrm>
          <a:prstGeom prst="rect">
            <a:avLst/>
          </a:prstGeom>
          <a:noFill/>
          <a:ln/>
        </p:spPr>
        <p:txBody>
          <a:bodyPr wrap="square" lIns="0" tIns="0" rIns="0" bIns="0" rtlCol="0" anchor="ctr"/>
          <a:lstStyle/>
          <a:p>
            <a:pPr marL="0" indent="0">
              <a:buNone/>
            </a:pPr>
            <a:r>
              <a:rPr lang="en-US" sz="1350" b="1" dirty="0">
                <a:solidFill>
                  <a:srgbClr val="0E2A2C"/>
                </a:solidFill>
                <a:latin typeface="Cambria" pitchFamily="34" charset="0"/>
                <a:ea typeface="Cambria" pitchFamily="34" charset="-122"/>
                <a:cs typeface="Cambria" pitchFamily="34" charset="-120"/>
              </a:rPr>
              <a:t>Recommended Models</a:t>
            </a:r>
            <a:endParaRPr lang="en-US" sz="1350" dirty="0"/>
          </a:p>
        </p:txBody>
      </p:sp>
      <p:sp>
        <p:nvSpPr>
          <p:cNvPr id="17" name="Text 14"/>
          <p:cNvSpPr txBox="1"/>
          <p:nvPr/>
        </p:nvSpPr>
        <p:spPr>
          <a:xfrm>
            <a:off x="4297680" y="2331720"/>
            <a:ext cx="3246120" cy="2468880"/>
          </a:xfrm>
          <a:prstGeom prst="rect">
            <a:avLst/>
          </a:prstGeom>
          <a:noFill/>
          <a:ln/>
        </p:spPr>
        <p:txBody>
          <a:bodyPr wrap="square" lIns="0" tIns="0" rIns="0" bIns="0" rtlCol="0" anchor="t"/>
          <a:lstStyle/>
          <a:p>
            <a:pPr marL="177800" indent="-177800">
              <a:spcAft>
                <a:spcPts val="1100"/>
              </a:spcAft>
              <a:buSzPct val="100000"/>
              <a:buChar char="•"/>
            </a:pPr>
            <a:r>
              <a:rPr lang="en-US" sz="1200" dirty="0">
                <a:solidFill>
                  <a:srgbClr val="0E2A2C"/>
                </a:solidFill>
                <a:latin typeface="Calibri" pitchFamily="34" charset="0"/>
                <a:ea typeface="Calibri" pitchFamily="34" charset="-122"/>
                <a:cs typeface="Calibri" pitchFamily="34" charset="-120"/>
              </a:rPr>
              <a:t>Logistic Regression — baseline</a:t>
            </a:r>
            <a:endParaRPr lang="en-US" sz="1200" dirty="0"/>
          </a:p>
          <a:p>
            <a:pPr marL="177800" indent="-177800">
              <a:spcAft>
                <a:spcPts val="1100"/>
              </a:spcAft>
              <a:buSzPct val="100000"/>
              <a:buChar char="•"/>
            </a:pPr>
            <a:r>
              <a:rPr lang="en-US" sz="1200" dirty="0">
                <a:solidFill>
                  <a:srgbClr val="0E2A2C"/>
                </a:solidFill>
                <a:latin typeface="Calibri" pitchFamily="34" charset="0"/>
                <a:ea typeface="Calibri" pitchFamily="34" charset="-122"/>
                <a:cs typeface="Calibri" pitchFamily="34" charset="-120"/>
              </a:rPr>
              <a:t>Decision Tree — interpretable comparison</a:t>
            </a:r>
            <a:endParaRPr lang="en-US" sz="1200" dirty="0"/>
          </a:p>
          <a:p>
            <a:pPr marL="177800" indent="-177800">
              <a:spcAft>
                <a:spcPts val="1100"/>
              </a:spcAft>
              <a:buSzPct val="100000"/>
              <a:buChar char="•"/>
            </a:pPr>
            <a:r>
              <a:rPr lang="en-US" sz="1200" dirty="0">
                <a:solidFill>
                  <a:srgbClr val="0E2A2C"/>
                </a:solidFill>
                <a:latin typeface="Calibri" pitchFamily="34" charset="0"/>
                <a:ea typeface="Calibri" pitchFamily="34" charset="-122"/>
                <a:cs typeface="Calibri" pitchFamily="34" charset="-120"/>
              </a:rPr>
              <a:t>Random Forest — strong candidate, gives feature importance</a:t>
            </a:r>
            <a:endParaRPr lang="en-US" sz="1200" dirty="0"/>
          </a:p>
          <a:p>
            <a:pPr marL="177800" indent="-177800">
              <a:spcAft>
                <a:spcPts val="1100"/>
              </a:spcAft>
              <a:buSzPct val="100000"/>
              <a:buChar char="•"/>
            </a:pPr>
            <a:r>
              <a:rPr lang="en-US" sz="1200" dirty="0">
                <a:solidFill>
                  <a:srgbClr val="0E2A2C"/>
                </a:solidFill>
                <a:latin typeface="Calibri" pitchFamily="34" charset="0"/>
                <a:ea typeface="Calibri" pitchFamily="34" charset="-122"/>
                <a:cs typeface="Calibri" pitchFamily="34" charset="-120"/>
              </a:rPr>
              <a:t>XGBoost — optional, if time permits</a:t>
            </a:r>
            <a:endParaRPr lang="en-US" sz="1200" dirty="0"/>
          </a:p>
        </p:txBody>
      </p:sp>
      <p:sp>
        <p:nvSpPr>
          <p:cNvPr id="18" name="Shape 15"/>
          <p:cNvSpPr/>
          <p:nvPr/>
        </p:nvSpPr>
        <p:spPr>
          <a:xfrm>
            <a:off x="7936992" y="1508760"/>
            <a:ext cx="3703320" cy="3429000"/>
          </a:xfrm>
          <a:prstGeom prst="roundRect">
            <a:avLst>
              <a:gd name="adj" fmla="val 2133"/>
            </a:avLst>
          </a:prstGeom>
          <a:solidFill>
            <a:srgbClr val="0B3639"/>
          </a:solidFill>
          <a:ln/>
          <a:effectLst>
            <a:outerShdw blurRad="76200" dist="25400" dir="5400000" algn="bl" rotWithShape="0">
              <a:srgbClr val="1B2B2B">
                <a:alpha val="12000"/>
              </a:srgbClr>
            </a:outerShdw>
          </a:effectLst>
        </p:spPr>
        <p:txBody>
          <a:bodyPr/>
          <a:lstStyle/>
          <a:p>
            <a:endParaRPr lang="en-IN"/>
          </a:p>
        </p:txBody>
      </p:sp>
      <p:sp>
        <p:nvSpPr>
          <p:cNvPr id="19" name="Shape 16"/>
          <p:cNvSpPr/>
          <p:nvPr/>
        </p:nvSpPr>
        <p:spPr>
          <a:xfrm>
            <a:off x="8211312" y="1737360"/>
            <a:ext cx="438912" cy="438912"/>
          </a:xfrm>
          <a:prstGeom prst="ellipse">
            <a:avLst/>
          </a:prstGeom>
          <a:solidFill>
            <a:srgbClr val="02C39A"/>
          </a:solidFill>
          <a:ln/>
        </p:spPr>
        <p:txBody>
          <a:bodyPr/>
          <a:lstStyle/>
          <a:p>
            <a:endParaRPr lang="en-IN"/>
          </a:p>
        </p:txBody>
      </p:sp>
      <p:pic>
        <p:nvPicPr>
          <p:cNvPr id="20" name="Image 1" descr="/home/claude/deck/icons/chartbar.png"/>
          <p:cNvPicPr>
            <a:picLocks noChangeAspect="1"/>
          </p:cNvPicPr>
          <p:nvPr/>
        </p:nvPicPr>
        <p:blipFill>
          <a:blip r:embed="rId4"/>
          <a:stretch>
            <a:fillRect/>
          </a:stretch>
        </p:blipFill>
        <p:spPr>
          <a:xfrm>
            <a:off x="8310067" y="1836115"/>
            <a:ext cx="241402" cy="241402"/>
          </a:xfrm>
          <a:prstGeom prst="rect">
            <a:avLst/>
          </a:prstGeom>
        </p:spPr>
      </p:pic>
      <p:sp>
        <p:nvSpPr>
          <p:cNvPr id="21" name="Text 17"/>
          <p:cNvSpPr txBox="1"/>
          <p:nvPr/>
        </p:nvSpPr>
        <p:spPr>
          <a:xfrm>
            <a:off x="8759952" y="1737360"/>
            <a:ext cx="2743200" cy="438912"/>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Evaluation Metrics</a:t>
            </a:r>
            <a:endParaRPr lang="en-US" sz="1350" dirty="0"/>
          </a:p>
        </p:txBody>
      </p:sp>
      <p:sp>
        <p:nvSpPr>
          <p:cNvPr id="22" name="Text 18"/>
          <p:cNvSpPr txBox="1"/>
          <p:nvPr/>
        </p:nvSpPr>
        <p:spPr>
          <a:xfrm>
            <a:off x="8211312" y="2331720"/>
            <a:ext cx="3200400" cy="2468880"/>
          </a:xfrm>
          <a:prstGeom prst="rect">
            <a:avLst/>
          </a:prstGeom>
          <a:noFill/>
          <a:ln/>
        </p:spPr>
        <p:txBody>
          <a:bodyPr wrap="square" lIns="0" tIns="0" rIns="0" bIns="0" rtlCol="0" anchor="t"/>
          <a:lstStyle/>
          <a:p>
            <a:pPr marL="177800" indent="-177800">
              <a:spcAft>
                <a:spcPts val="1100"/>
              </a:spcAft>
              <a:buSzPct val="100000"/>
              <a:buChar char="•"/>
            </a:pPr>
            <a:r>
              <a:rPr lang="en-US" sz="1250" dirty="0">
                <a:solidFill>
                  <a:srgbClr val="FFFFFF"/>
                </a:solidFill>
                <a:latin typeface="Calibri" pitchFamily="34" charset="0"/>
                <a:ea typeface="Calibri" pitchFamily="34" charset="-122"/>
                <a:cs typeface="Calibri" pitchFamily="34" charset="-120"/>
              </a:rPr>
              <a:t>Accuracy</a:t>
            </a:r>
            <a:endParaRPr lang="en-US" sz="1250" dirty="0"/>
          </a:p>
          <a:p>
            <a:pPr marL="177800" indent="-177800">
              <a:spcAft>
                <a:spcPts val="1100"/>
              </a:spcAft>
              <a:buSzPct val="100000"/>
              <a:buChar char="•"/>
            </a:pPr>
            <a:r>
              <a:rPr lang="en-US" sz="1250" dirty="0">
                <a:solidFill>
                  <a:srgbClr val="FFFFFF"/>
                </a:solidFill>
                <a:latin typeface="Calibri" pitchFamily="34" charset="0"/>
                <a:ea typeface="Calibri" pitchFamily="34" charset="-122"/>
                <a:cs typeface="Calibri" pitchFamily="34" charset="-120"/>
              </a:rPr>
              <a:t>Precision</a:t>
            </a:r>
            <a:endParaRPr lang="en-US" sz="1250" dirty="0"/>
          </a:p>
          <a:p>
            <a:pPr marL="177800" indent="-177800">
              <a:spcAft>
                <a:spcPts val="1100"/>
              </a:spcAft>
              <a:buSzPct val="100000"/>
              <a:buChar char="•"/>
            </a:pPr>
            <a:r>
              <a:rPr lang="en-US" sz="1250" dirty="0">
                <a:solidFill>
                  <a:srgbClr val="FFFFFF"/>
                </a:solidFill>
                <a:latin typeface="Calibri" pitchFamily="34" charset="0"/>
                <a:ea typeface="Calibri" pitchFamily="34" charset="-122"/>
                <a:cs typeface="Calibri" pitchFamily="34" charset="-120"/>
              </a:rPr>
              <a:t>Recall</a:t>
            </a:r>
            <a:endParaRPr lang="en-US" sz="1250" dirty="0"/>
          </a:p>
          <a:p>
            <a:pPr marL="177800" indent="-177800">
              <a:spcAft>
                <a:spcPts val="1100"/>
              </a:spcAft>
              <a:buSzPct val="100000"/>
              <a:buChar char="•"/>
            </a:pPr>
            <a:r>
              <a:rPr lang="en-US" sz="1250" dirty="0">
                <a:solidFill>
                  <a:srgbClr val="FFFFFF"/>
                </a:solidFill>
                <a:latin typeface="Calibri" pitchFamily="34" charset="0"/>
                <a:ea typeface="Calibri" pitchFamily="34" charset="-122"/>
                <a:cs typeface="Calibri" pitchFamily="34" charset="-120"/>
              </a:rPr>
              <a:t>F1-score</a:t>
            </a:r>
            <a:endParaRPr lang="en-US" sz="1250" dirty="0"/>
          </a:p>
          <a:p>
            <a:pPr marL="177800" indent="-177800">
              <a:spcAft>
                <a:spcPts val="1100"/>
              </a:spcAft>
              <a:buSzPct val="100000"/>
              <a:buChar char="•"/>
            </a:pPr>
            <a:r>
              <a:rPr lang="en-US" sz="1250" dirty="0">
                <a:solidFill>
                  <a:srgbClr val="FFFFFF"/>
                </a:solidFill>
                <a:latin typeface="Calibri" pitchFamily="34" charset="0"/>
                <a:ea typeface="Calibri" pitchFamily="34" charset="-122"/>
                <a:cs typeface="Calibri" pitchFamily="34" charset="-120"/>
              </a:rPr>
              <a:t>Confusion Matrix</a:t>
            </a:r>
            <a:endParaRPr lang="en-US" sz="1250" dirty="0"/>
          </a:p>
        </p:txBody>
      </p:sp>
      <p:sp>
        <p:nvSpPr>
          <p:cNvPr id="23" name="Shape 19"/>
          <p:cNvSpPr/>
          <p:nvPr/>
        </p:nvSpPr>
        <p:spPr>
          <a:xfrm>
            <a:off x="548640" y="5120640"/>
            <a:ext cx="11091672" cy="1234440"/>
          </a:xfrm>
          <a:prstGeom prst="roundRect">
            <a:avLst>
              <a:gd name="adj" fmla="val 5926"/>
            </a:avLst>
          </a:prstGeom>
          <a:solidFill>
            <a:srgbClr val="FFFFFF"/>
          </a:solidFill>
          <a:ln w="12700">
            <a:solidFill>
              <a:srgbClr val="D9E7E6"/>
            </a:solidFill>
            <a:prstDash val="solid"/>
          </a:ln>
        </p:spPr>
        <p:txBody>
          <a:bodyPr/>
          <a:lstStyle/>
          <a:p>
            <a:endParaRPr lang="en-IN"/>
          </a:p>
        </p:txBody>
      </p:sp>
      <p:sp>
        <p:nvSpPr>
          <p:cNvPr id="24" name="Text 20"/>
          <p:cNvSpPr txBox="1"/>
          <p:nvPr/>
        </p:nvSpPr>
        <p:spPr>
          <a:xfrm>
            <a:off x="822960" y="5257800"/>
            <a:ext cx="4572000" cy="320040"/>
          </a:xfrm>
          <a:prstGeom prst="rect">
            <a:avLst/>
          </a:prstGeom>
          <a:noFill/>
          <a:ln/>
        </p:spPr>
        <p:txBody>
          <a:bodyPr wrap="square" lIns="0" tIns="0" rIns="0" bIns="0" rtlCol="0" anchor="ctr"/>
          <a:lstStyle/>
          <a:p>
            <a:pPr marL="0" indent="0" algn="l">
              <a:buNone/>
            </a:pPr>
            <a:r>
              <a:rPr lang="en-US" sz="1500" b="1" dirty="0">
                <a:solidFill>
                  <a:srgbClr val="028090"/>
                </a:solidFill>
                <a:latin typeface="Cambria" pitchFamily="34" charset="0"/>
                <a:ea typeface="Cambria" pitchFamily="34" charset="-122"/>
                <a:cs typeface="Cambria" pitchFamily="34" charset="-120"/>
              </a:rPr>
              <a:t>ML Pipeline</a:t>
            </a:r>
            <a:endParaRPr lang="en-US" sz="1500" dirty="0"/>
          </a:p>
        </p:txBody>
      </p:sp>
      <p:sp>
        <p:nvSpPr>
          <p:cNvPr id="25" name="Shape 21"/>
          <p:cNvSpPr/>
          <p:nvPr/>
        </p:nvSpPr>
        <p:spPr>
          <a:xfrm>
            <a:off x="822960" y="5623560"/>
            <a:ext cx="1528572" cy="548640"/>
          </a:xfrm>
          <a:prstGeom prst="roundRect">
            <a:avLst>
              <a:gd name="adj" fmla="val 10000"/>
            </a:avLst>
          </a:prstGeom>
          <a:solidFill>
            <a:srgbClr val="028090"/>
          </a:solidFill>
          <a:ln/>
        </p:spPr>
        <p:txBody>
          <a:bodyPr/>
          <a:lstStyle/>
          <a:p>
            <a:endParaRPr lang="en-IN"/>
          </a:p>
        </p:txBody>
      </p:sp>
      <p:sp>
        <p:nvSpPr>
          <p:cNvPr id="26" name="Text 22"/>
          <p:cNvSpPr txBox="1"/>
          <p:nvPr/>
        </p:nvSpPr>
        <p:spPr>
          <a:xfrm>
            <a:off x="868680" y="5623560"/>
            <a:ext cx="1437132" cy="54864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Data Cleaning</a:t>
            </a:r>
            <a:endParaRPr lang="en-US" sz="950" dirty="0"/>
          </a:p>
        </p:txBody>
      </p:sp>
      <p:sp>
        <p:nvSpPr>
          <p:cNvPr id="27" name="Shape 23"/>
          <p:cNvSpPr/>
          <p:nvPr/>
        </p:nvSpPr>
        <p:spPr>
          <a:xfrm>
            <a:off x="2351532" y="5815584"/>
            <a:ext cx="256032" cy="164592"/>
          </a:xfrm>
          <a:prstGeom prst="rightArrow">
            <a:avLst/>
          </a:prstGeom>
          <a:solidFill>
            <a:srgbClr val="00A896"/>
          </a:solidFill>
          <a:ln/>
        </p:spPr>
        <p:txBody>
          <a:bodyPr/>
          <a:lstStyle/>
          <a:p>
            <a:endParaRPr lang="en-IN"/>
          </a:p>
        </p:txBody>
      </p:sp>
      <p:sp>
        <p:nvSpPr>
          <p:cNvPr id="28" name="Shape 24"/>
          <p:cNvSpPr/>
          <p:nvPr/>
        </p:nvSpPr>
        <p:spPr>
          <a:xfrm>
            <a:off x="2625852" y="5623560"/>
            <a:ext cx="1528572" cy="548640"/>
          </a:xfrm>
          <a:prstGeom prst="roundRect">
            <a:avLst>
              <a:gd name="adj" fmla="val 10000"/>
            </a:avLst>
          </a:prstGeom>
          <a:solidFill>
            <a:srgbClr val="028090"/>
          </a:solidFill>
          <a:ln/>
        </p:spPr>
        <p:txBody>
          <a:bodyPr/>
          <a:lstStyle/>
          <a:p>
            <a:endParaRPr lang="en-IN"/>
          </a:p>
        </p:txBody>
      </p:sp>
      <p:sp>
        <p:nvSpPr>
          <p:cNvPr id="29" name="Text 25"/>
          <p:cNvSpPr txBox="1"/>
          <p:nvPr/>
        </p:nvSpPr>
        <p:spPr>
          <a:xfrm>
            <a:off x="2671572" y="5623560"/>
            <a:ext cx="1437132" cy="54864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EDA</a:t>
            </a:r>
            <a:endParaRPr lang="en-US" sz="950" dirty="0"/>
          </a:p>
        </p:txBody>
      </p:sp>
      <p:sp>
        <p:nvSpPr>
          <p:cNvPr id="30" name="Shape 26"/>
          <p:cNvSpPr/>
          <p:nvPr/>
        </p:nvSpPr>
        <p:spPr>
          <a:xfrm>
            <a:off x="4154424" y="5815584"/>
            <a:ext cx="256032" cy="164592"/>
          </a:xfrm>
          <a:prstGeom prst="rightArrow">
            <a:avLst/>
          </a:prstGeom>
          <a:solidFill>
            <a:srgbClr val="00A896"/>
          </a:solidFill>
          <a:ln/>
        </p:spPr>
        <p:txBody>
          <a:bodyPr/>
          <a:lstStyle/>
          <a:p>
            <a:endParaRPr lang="en-IN"/>
          </a:p>
        </p:txBody>
      </p:sp>
      <p:sp>
        <p:nvSpPr>
          <p:cNvPr id="31" name="Shape 27"/>
          <p:cNvSpPr/>
          <p:nvPr/>
        </p:nvSpPr>
        <p:spPr>
          <a:xfrm>
            <a:off x="4428744" y="5623560"/>
            <a:ext cx="1528572" cy="548640"/>
          </a:xfrm>
          <a:prstGeom prst="roundRect">
            <a:avLst>
              <a:gd name="adj" fmla="val 10000"/>
            </a:avLst>
          </a:prstGeom>
          <a:solidFill>
            <a:srgbClr val="028090"/>
          </a:solidFill>
          <a:ln/>
        </p:spPr>
        <p:txBody>
          <a:bodyPr/>
          <a:lstStyle/>
          <a:p>
            <a:endParaRPr lang="en-IN"/>
          </a:p>
        </p:txBody>
      </p:sp>
      <p:sp>
        <p:nvSpPr>
          <p:cNvPr id="32" name="Text 28"/>
          <p:cNvSpPr txBox="1"/>
          <p:nvPr/>
        </p:nvSpPr>
        <p:spPr>
          <a:xfrm>
            <a:off x="4474464" y="5623560"/>
            <a:ext cx="1437132" cy="54864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Preprocessing</a:t>
            </a:r>
            <a:endParaRPr lang="en-US" sz="950" dirty="0"/>
          </a:p>
        </p:txBody>
      </p:sp>
      <p:sp>
        <p:nvSpPr>
          <p:cNvPr id="33" name="Shape 29"/>
          <p:cNvSpPr/>
          <p:nvPr/>
        </p:nvSpPr>
        <p:spPr>
          <a:xfrm>
            <a:off x="5957316" y="5815584"/>
            <a:ext cx="256032" cy="164592"/>
          </a:xfrm>
          <a:prstGeom prst="rightArrow">
            <a:avLst/>
          </a:prstGeom>
          <a:solidFill>
            <a:srgbClr val="00A896"/>
          </a:solidFill>
          <a:ln/>
        </p:spPr>
        <p:txBody>
          <a:bodyPr/>
          <a:lstStyle/>
          <a:p>
            <a:endParaRPr lang="en-IN"/>
          </a:p>
        </p:txBody>
      </p:sp>
      <p:sp>
        <p:nvSpPr>
          <p:cNvPr id="34" name="Shape 30"/>
          <p:cNvSpPr/>
          <p:nvPr/>
        </p:nvSpPr>
        <p:spPr>
          <a:xfrm>
            <a:off x="6231636" y="5623560"/>
            <a:ext cx="1528572" cy="548640"/>
          </a:xfrm>
          <a:prstGeom prst="roundRect">
            <a:avLst>
              <a:gd name="adj" fmla="val 10000"/>
            </a:avLst>
          </a:prstGeom>
          <a:solidFill>
            <a:srgbClr val="028090"/>
          </a:solidFill>
          <a:ln/>
        </p:spPr>
        <p:txBody>
          <a:bodyPr/>
          <a:lstStyle/>
          <a:p>
            <a:endParaRPr lang="en-IN"/>
          </a:p>
        </p:txBody>
      </p:sp>
      <p:sp>
        <p:nvSpPr>
          <p:cNvPr id="35" name="Text 31"/>
          <p:cNvSpPr txBox="1"/>
          <p:nvPr/>
        </p:nvSpPr>
        <p:spPr>
          <a:xfrm>
            <a:off x="6277356" y="5623560"/>
            <a:ext cx="1437132" cy="54864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Train/Test Split</a:t>
            </a:r>
            <a:endParaRPr lang="en-US" sz="950" dirty="0"/>
          </a:p>
        </p:txBody>
      </p:sp>
      <p:sp>
        <p:nvSpPr>
          <p:cNvPr id="36" name="Shape 32"/>
          <p:cNvSpPr/>
          <p:nvPr/>
        </p:nvSpPr>
        <p:spPr>
          <a:xfrm>
            <a:off x="7760208" y="5815584"/>
            <a:ext cx="256032" cy="164592"/>
          </a:xfrm>
          <a:prstGeom prst="rightArrow">
            <a:avLst/>
          </a:prstGeom>
          <a:solidFill>
            <a:srgbClr val="00A896"/>
          </a:solidFill>
          <a:ln/>
        </p:spPr>
        <p:txBody>
          <a:bodyPr/>
          <a:lstStyle/>
          <a:p>
            <a:endParaRPr lang="en-IN"/>
          </a:p>
        </p:txBody>
      </p:sp>
      <p:sp>
        <p:nvSpPr>
          <p:cNvPr id="37" name="Shape 33"/>
          <p:cNvSpPr/>
          <p:nvPr/>
        </p:nvSpPr>
        <p:spPr>
          <a:xfrm>
            <a:off x="8034528" y="5623560"/>
            <a:ext cx="1528572" cy="548640"/>
          </a:xfrm>
          <a:prstGeom prst="roundRect">
            <a:avLst>
              <a:gd name="adj" fmla="val 10000"/>
            </a:avLst>
          </a:prstGeom>
          <a:solidFill>
            <a:srgbClr val="028090"/>
          </a:solidFill>
          <a:ln/>
        </p:spPr>
        <p:txBody>
          <a:bodyPr/>
          <a:lstStyle/>
          <a:p>
            <a:endParaRPr lang="en-IN"/>
          </a:p>
        </p:txBody>
      </p:sp>
      <p:sp>
        <p:nvSpPr>
          <p:cNvPr id="38" name="Text 34"/>
          <p:cNvSpPr txBox="1"/>
          <p:nvPr/>
        </p:nvSpPr>
        <p:spPr>
          <a:xfrm>
            <a:off x="8080248" y="5623560"/>
            <a:ext cx="1437132" cy="54864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Training &amp; Evaluation</a:t>
            </a:r>
            <a:endParaRPr lang="en-US" sz="950" dirty="0"/>
          </a:p>
        </p:txBody>
      </p:sp>
      <p:sp>
        <p:nvSpPr>
          <p:cNvPr id="39" name="Shape 35"/>
          <p:cNvSpPr/>
          <p:nvPr/>
        </p:nvSpPr>
        <p:spPr>
          <a:xfrm>
            <a:off x="9563100" y="5815584"/>
            <a:ext cx="256032" cy="164592"/>
          </a:xfrm>
          <a:prstGeom prst="rightArrow">
            <a:avLst/>
          </a:prstGeom>
          <a:solidFill>
            <a:srgbClr val="00A896"/>
          </a:solidFill>
          <a:ln/>
        </p:spPr>
        <p:txBody>
          <a:bodyPr/>
          <a:lstStyle/>
          <a:p>
            <a:endParaRPr lang="en-IN"/>
          </a:p>
        </p:txBody>
      </p:sp>
      <p:sp>
        <p:nvSpPr>
          <p:cNvPr id="40" name="Shape 36"/>
          <p:cNvSpPr/>
          <p:nvPr/>
        </p:nvSpPr>
        <p:spPr>
          <a:xfrm>
            <a:off x="9837420" y="5623560"/>
            <a:ext cx="1528572" cy="548640"/>
          </a:xfrm>
          <a:prstGeom prst="roundRect">
            <a:avLst>
              <a:gd name="adj" fmla="val 10000"/>
            </a:avLst>
          </a:prstGeom>
          <a:solidFill>
            <a:srgbClr val="02C39A"/>
          </a:solidFill>
          <a:ln/>
        </p:spPr>
        <p:txBody>
          <a:bodyPr/>
          <a:lstStyle/>
          <a:p>
            <a:endParaRPr lang="en-IN"/>
          </a:p>
        </p:txBody>
      </p:sp>
      <p:sp>
        <p:nvSpPr>
          <p:cNvPr id="41" name="Text 37"/>
          <p:cNvSpPr txBox="1"/>
          <p:nvPr/>
        </p:nvSpPr>
        <p:spPr>
          <a:xfrm>
            <a:off x="9883140" y="5623560"/>
            <a:ext cx="1437132" cy="548640"/>
          </a:xfrm>
          <a:prstGeom prst="rect">
            <a:avLst/>
          </a:prstGeom>
          <a:noFill/>
          <a:ln/>
        </p:spPr>
        <p:txBody>
          <a:bodyPr wrap="square" lIns="0" tIns="0" rIns="0" bIns="0" rtlCol="0" anchor="ctr"/>
          <a:lstStyle/>
          <a:p>
            <a:pPr marL="0" indent="0" algn="ctr">
              <a:buNone/>
            </a:pPr>
            <a:r>
              <a:rPr lang="en-US" sz="950" b="1" dirty="0">
                <a:solidFill>
                  <a:srgbClr val="0E2A2C"/>
                </a:solidFill>
                <a:latin typeface="Calibri" pitchFamily="34" charset="0"/>
                <a:ea typeface="Calibri" pitchFamily="34" charset="-122"/>
                <a:cs typeface="Calibri" pitchFamily="34" charset="-120"/>
              </a:rPr>
              <a:t>Best Model → FastAPI</a:t>
            </a:r>
            <a:endParaRPr lang="en-US" sz="950" dirty="0"/>
          </a:p>
        </p:txBody>
      </p:sp>
      <p:sp>
        <p:nvSpPr>
          <p:cNvPr id="43" name="Text 38"/>
          <p:cNvSpPr txBox="1"/>
          <p:nvPr/>
        </p:nvSpPr>
        <p:spPr>
          <a:xfrm>
            <a:off x="11548872" y="6473952"/>
            <a:ext cx="365760" cy="274320"/>
          </a:xfrm>
          <a:prstGeom prst="rect">
            <a:avLst/>
          </a:prstGeom>
          <a:noFill/>
          <a:ln/>
        </p:spPr>
        <p:txBody>
          <a:bodyPr wrap="square" lIns="0" tIns="0" rIns="0" bIns="0" rtlCol="0" anchor="ctr"/>
          <a:lstStyle/>
          <a:p>
            <a:pPr marL="0" indent="0" algn="r">
              <a:buNone/>
            </a:pPr>
            <a:r>
              <a:rPr lang="en-US" sz="1000" dirty="0">
                <a:solidFill>
                  <a:srgbClr val="4E6A6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AF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85800"/>
          </a:xfrm>
          <a:prstGeom prst="rect">
            <a:avLst/>
          </a:prstGeom>
          <a:noFill/>
          <a:ln/>
        </p:spPr>
        <p:txBody>
          <a:bodyPr wrap="square" lIns="0" tIns="0" rIns="0" bIns="0" rtlCol="0" anchor="ctr"/>
          <a:lstStyle/>
          <a:p>
            <a:pPr marL="0" indent="0" algn="l">
              <a:buNone/>
            </a:pPr>
            <a:r>
              <a:rPr lang="en-US" sz="3000" b="1" dirty="0">
                <a:solidFill>
                  <a:srgbClr val="0E2A2C"/>
                </a:solidFill>
                <a:latin typeface="Cambria" pitchFamily="34" charset="0"/>
                <a:ea typeface="Cambria" pitchFamily="34" charset="-122"/>
                <a:cs typeface="Cambria" pitchFamily="34" charset="-120"/>
              </a:rPr>
              <a:t>Generative AI &amp; Explainable AI</a:t>
            </a:r>
            <a:endParaRPr lang="en-US" sz="3000" dirty="0"/>
          </a:p>
        </p:txBody>
      </p:sp>
      <p:sp>
        <p:nvSpPr>
          <p:cNvPr id="3" name="Text 1"/>
          <p:cNvSpPr txBox="1"/>
          <p:nvPr/>
        </p:nvSpPr>
        <p:spPr>
          <a:xfrm>
            <a:off x="548640" y="987552"/>
            <a:ext cx="11091672" cy="365760"/>
          </a:xfrm>
          <a:prstGeom prst="rect">
            <a:avLst/>
          </a:prstGeom>
          <a:noFill/>
          <a:ln/>
        </p:spPr>
        <p:txBody>
          <a:bodyPr wrap="square" lIns="0" tIns="0" rIns="0" bIns="0" rtlCol="0" anchor="ctr"/>
          <a:lstStyle/>
          <a:p>
            <a:pPr marL="0" indent="0" algn="l">
              <a:buNone/>
            </a:pPr>
            <a:r>
              <a:rPr lang="en-US" sz="1300" i="1" dirty="0">
                <a:solidFill>
                  <a:srgbClr val="4E6A6C"/>
                </a:solidFill>
                <a:latin typeface="Calibri" pitchFamily="34" charset="0"/>
                <a:ea typeface="Calibri" pitchFamily="34" charset="-122"/>
                <a:cs typeface="Calibri" pitchFamily="34" charset="-120"/>
              </a:rPr>
              <a:t>Two layers of transparency: which features mattered, and what the result means in plain words</a:t>
            </a:r>
            <a:endParaRPr lang="en-US" sz="1300" dirty="0"/>
          </a:p>
        </p:txBody>
      </p:sp>
      <p:sp>
        <p:nvSpPr>
          <p:cNvPr id="4" name="Shape 2"/>
          <p:cNvSpPr/>
          <p:nvPr/>
        </p:nvSpPr>
        <p:spPr>
          <a:xfrm>
            <a:off x="548640" y="1508760"/>
            <a:ext cx="5486400" cy="4709160"/>
          </a:xfrm>
          <a:prstGeom prst="roundRect">
            <a:avLst>
              <a:gd name="adj" fmla="val 1553"/>
            </a:avLst>
          </a:prstGeom>
          <a:solidFill>
            <a:srgbClr val="FFFFFF"/>
          </a:solidFill>
          <a:ln w="12700">
            <a:solidFill>
              <a:srgbClr val="D9E7E6"/>
            </a:solidFill>
            <a:prstDash val="solid"/>
          </a:ln>
          <a:effectLst>
            <a:outerShdw blurRad="76200" dist="25400" dir="5400000" algn="bl" rotWithShape="0">
              <a:srgbClr val="1B2B2B">
                <a:alpha val="12000"/>
              </a:srgbClr>
            </a:outerShdw>
          </a:effectLst>
        </p:spPr>
        <p:txBody>
          <a:bodyPr/>
          <a:lstStyle/>
          <a:p>
            <a:endParaRPr lang="en-IN"/>
          </a:p>
        </p:txBody>
      </p:sp>
      <p:sp>
        <p:nvSpPr>
          <p:cNvPr id="5" name="Shape 3"/>
          <p:cNvSpPr/>
          <p:nvPr/>
        </p:nvSpPr>
        <p:spPr>
          <a:xfrm>
            <a:off x="868680" y="1783080"/>
            <a:ext cx="457200" cy="457200"/>
          </a:xfrm>
          <a:prstGeom prst="ellipse">
            <a:avLst/>
          </a:prstGeom>
          <a:solidFill>
            <a:srgbClr val="028090"/>
          </a:solidFill>
          <a:ln/>
        </p:spPr>
        <p:txBody>
          <a:bodyPr/>
          <a:lstStyle/>
          <a:p>
            <a:endParaRPr lang="en-IN"/>
          </a:p>
        </p:txBody>
      </p:sp>
      <p:pic>
        <p:nvPicPr>
          <p:cNvPr id="6" name="Image 0" descr="/home/claude/deck/icons/lightbulb.png"/>
          <p:cNvPicPr>
            <a:picLocks noChangeAspect="1"/>
          </p:cNvPicPr>
          <p:nvPr/>
        </p:nvPicPr>
        <p:blipFill>
          <a:blip r:embed="rId3"/>
          <a:stretch>
            <a:fillRect/>
          </a:stretch>
        </p:blipFill>
        <p:spPr>
          <a:xfrm>
            <a:off x="971550" y="1885950"/>
            <a:ext cx="251460" cy="251460"/>
          </a:xfrm>
          <a:prstGeom prst="rect">
            <a:avLst/>
          </a:prstGeom>
        </p:spPr>
      </p:pic>
      <p:sp>
        <p:nvSpPr>
          <p:cNvPr id="7" name="Text 4"/>
          <p:cNvSpPr txBox="1"/>
          <p:nvPr/>
        </p:nvSpPr>
        <p:spPr>
          <a:xfrm>
            <a:off x="1463040" y="1783080"/>
            <a:ext cx="4297680" cy="457200"/>
          </a:xfrm>
          <a:prstGeom prst="rect">
            <a:avLst/>
          </a:prstGeom>
          <a:noFill/>
          <a:ln/>
        </p:spPr>
        <p:txBody>
          <a:bodyPr wrap="square" lIns="0" tIns="0" rIns="0" bIns="0" rtlCol="0" anchor="ctr"/>
          <a:lstStyle/>
          <a:p>
            <a:pPr marL="0" indent="0">
              <a:buNone/>
            </a:pPr>
            <a:r>
              <a:rPr lang="en-US" sz="1600" b="1" dirty="0">
                <a:solidFill>
                  <a:srgbClr val="0E2A2C"/>
                </a:solidFill>
                <a:latin typeface="Cambria" pitchFamily="34" charset="0"/>
                <a:ea typeface="Cambria" pitchFamily="34" charset="-122"/>
                <a:cs typeface="Cambria" pitchFamily="34" charset="-120"/>
              </a:rPr>
              <a:t>Explainable AI</a:t>
            </a:r>
            <a:endParaRPr lang="en-US" sz="1600" dirty="0"/>
          </a:p>
        </p:txBody>
      </p:sp>
      <p:sp>
        <p:nvSpPr>
          <p:cNvPr id="8" name="Text 5"/>
          <p:cNvSpPr txBox="1"/>
          <p:nvPr/>
        </p:nvSpPr>
        <p:spPr>
          <a:xfrm>
            <a:off x="868680" y="2423160"/>
            <a:ext cx="4892040" cy="3566160"/>
          </a:xfrm>
          <a:prstGeom prst="rect">
            <a:avLst/>
          </a:prstGeom>
          <a:noFill/>
          <a:ln/>
        </p:spPr>
        <p:txBody>
          <a:bodyPr wrap="square" lIns="0" tIns="0" rIns="0" bIns="0" rtlCol="0" anchor="t"/>
          <a:lstStyle/>
          <a:p>
            <a:pPr marL="177800" indent="-177800">
              <a:spcAft>
                <a:spcPts val="1200"/>
              </a:spcAft>
              <a:buSzPct val="100000"/>
              <a:buChar char="•"/>
            </a:pPr>
            <a:r>
              <a:rPr lang="en-US" sz="1250" dirty="0">
                <a:solidFill>
                  <a:srgbClr val="0E2A2C"/>
                </a:solidFill>
                <a:latin typeface="Calibri" pitchFamily="34" charset="0"/>
                <a:ea typeface="Calibri" pitchFamily="34" charset="-122"/>
                <a:cs typeface="Calibri" pitchFamily="34" charset="-120"/>
              </a:rPr>
              <a:t>The system never shows a bare label — it also surfaces the parameters that drove the prediction</a:t>
            </a:r>
            <a:endParaRPr lang="en-US" sz="1250" dirty="0"/>
          </a:p>
          <a:p>
            <a:pPr marL="177800" indent="-177800">
              <a:spcAft>
                <a:spcPts val="1200"/>
              </a:spcAft>
              <a:buSzPct val="100000"/>
              <a:buChar char="•"/>
            </a:pPr>
            <a:r>
              <a:rPr lang="en-US" sz="1250" dirty="0">
                <a:solidFill>
                  <a:srgbClr val="0E2A2C"/>
                </a:solidFill>
                <a:latin typeface="Calibri" pitchFamily="34" charset="0"/>
                <a:ea typeface="Calibri" pitchFamily="34" charset="-122"/>
                <a:cs typeface="Calibri" pitchFamily="34" charset="-120"/>
              </a:rPr>
              <a:t>Feature importance from the chosen model (e.g. Random Forest) is visualized as a chart</a:t>
            </a:r>
            <a:endParaRPr lang="en-US" sz="1250" dirty="0"/>
          </a:p>
          <a:p>
            <a:pPr marL="177800" indent="-177800">
              <a:spcAft>
                <a:spcPts val="1200"/>
              </a:spcAft>
              <a:buSzPct val="100000"/>
              <a:buChar char="•"/>
            </a:pPr>
            <a:r>
              <a:rPr lang="en-US" sz="1250" dirty="0">
                <a:solidFill>
                  <a:srgbClr val="0E2A2C"/>
                </a:solidFill>
                <a:latin typeface="Calibri" pitchFamily="34" charset="0"/>
                <a:ea typeface="Calibri" pitchFamily="34" charset="-122"/>
                <a:cs typeface="Calibri" pitchFamily="34" charset="-120"/>
              </a:rPr>
              <a:t>Stretch goal: SHAP or LIME for per-prediction, more granular explanations</a:t>
            </a:r>
            <a:endParaRPr lang="en-US" sz="1250" dirty="0"/>
          </a:p>
          <a:p>
            <a:pPr marL="177800" indent="-177800">
              <a:spcAft>
                <a:spcPts val="1200"/>
              </a:spcAft>
              <a:buSzPct val="100000"/>
              <a:buChar char="•"/>
            </a:pPr>
            <a:r>
              <a:rPr lang="en-US" sz="1250" dirty="0">
                <a:solidFill>
                  <a:srgbClr val="0E2A2C"/>
                </a:solidFill>
                <a:latin typeface="Calibri" pitchFamily="34" charset="0"/>
                <a:ea typeface="Calibri" pitchFamily="34" charset="-122"/>
                <a:cs typeface="Calibri" pitchFamily="34" charset="-120"/>
              </a:rPr>
              <a:t>Builds trust — the presenter/clinician can see why, not just what</a:t>
            </a:r>
            <a:endParaRPr lang="en-US" sz="1250" dirty="0"/>
          </a:p>
        </p:txBody>
      </p:sp>
      <p:sp>
        <p:nvSpPr>
          <p:cNvPr id="9" name="Shape 6"/>
          <p:cNvSpPr/>
          <p:nvPr/>
        </p:nvSpPr>
        <p:spPr>
          <a:xfrm>
            <a:off x="6309360" y="1508760"/>
            <a:ext cx="5330952" cy="4709160"/>
          </a:xfrm>
          <a:prstGeom prst="roundRect">
            <a:avLst>
              <a:gd name="adj" fmla="val 1553"/>
            </a:avLst>
          </a:prstGeom>
          <a:solidFill>
            <a:srgbClr val="0B3639"/>
          </a:solidFill>
          <a:ln/>
          <a:effectLst>
            <a:outerShdw blurRad="76200" dist="25400" dir="5400000" algn="bl" rotWithShape="0">
              <a:srgbClr val="1B2B2B">
                <a:alpha val="12000"/>
              </a:srgbClr>
            </a:outerShdw>
          </a:effectLst>
        </p:spPr>
        <p:txBody>
          <a:bodyPr/>
          <a:lstStyle/>
          <a:p>
            <a:endParaRPr lang="en-IN"/>
          </a:p>
        </p:txBody>
      </p:sp>
      <p:sp>
        <p:nvSpPr>
          <p:cNvPr id="10" name="Shape 7"/>
          <p:cNvSpPr/>
          <p:nvPr/>
        </p:nvSpPr>
        <p:spPr>
          <a:xfrm>
            <a:off x="6583680" y="1737360"/>
            <a:ext cx="438912" cy="438912"/>
          </a:xfrm>
          <a:prstGeom prst="ellipse">
            <a:avLst/>
          </a:prstGeom>
          <a:solidFill>
            <a:srgbClr val="02C39A"/>
          </a:solidFill>
          <a:ln/>
        </p:spPr>
        <p:txBody>
          <a:bodyPr/>
          <a:lstStyle/>
          <a:p>
            <a:endParaRPr lang="en-IN"/>
          </a:p>
        </p:txBody>
      </p:sp>
      <p:pic>
        <p:nvPicPr>
          <p:cNvPr id="11" name="Image 1" descr="/home/claude/deck/icons/robot.png"/>
          <p:cNvPicPr>
            <a:picLocks noChangeAspect="1"/>
          </p:cNvPicPr>
          <p:nvPr/>
        </p:nvPicPr>
        <p:blipFill>
          <a:blip r:embed="rId4"/>
          <a:stretch>
            <a:fillRect/>
          </a:stretch>
        </p:blipFill>
        <p:spPr>
          <a:xfrm>
            <a:off x="6682435" y="1836115"/>
            <a:ext cx="241402" cy="241402"/>
          </a:xfrm>
          <a:prstGeom prst="rect">
            <a:avLst/>
          </a:prstGeom>
        </p:spPr>
      </p:pic>
      <p:sp>
        <p:nvSpPr>
          <p:cNvPr id="12" name="Text 8"/>
          <p:cNvSpPr txBox="1"/>
          <p:nvPr/>
        </p:nvSpPr>
        <p:spPr>
          <a:xfrm>
            <a:off x="7132320" y="1737360"/>
            <a:ext cx="4297680" cy="438912"/>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Generative AI Explanation Flow</a:t>
            </a:r>
            <a:endParaRPr lang="en-US" sz="1350" dirty="0"/>
          </a:p>
        </p:txBody>
      </p:sp>
      <p:sp>
        <p:nvSpPr>
          <p:cNvPr id="13" name="Shape 9"/>
          <p:cNvSpPr/>
          <p:nvPr/>
        </p:nvSpPr>
        <p:spPr>
          <a:xfrm>
            <a:off x="6583680" y="2286000"/>
            <a:ext cx="4754880" cy="420624"/>
          </a:xfrm>
          <a:prstGeom prst="roundRect">
            <a:avLst>
              <a:gd name="adj" fmla="val 13043"/>
            </a:avLst>
          </a:prstGeom>
          <a:solidFill>
            <a:srgbClr val="028090"/>
          </a:solidFill>
          <a:ln/>
        </p:spPr>
        <p:txBody>
          <a:bodyPr/>
          <a:lstStyle/>
          <a:p>
            <a:endParaRPr lang="en-IN"/>
          </a:p>
        </p:txBody>
      </p:sp>
      <p:sp>
        <p:nvSpPr>
          <p:cNvPr id="14" name="Text 10"/>
          <p:cNvSpPr txBox="1"/>
          <p:nvPr/>
        </p:nvSpPr>
        <p:spPr>
          <a:xfrm>
            <a:off x="6629400" y="2286000"/>
            <a:ext cx="4663440" cy="42062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CTG Input</a:t>
            </a:r>
            <a:endParaRPr lang="en-US" sz="1050" dirty="0"/>
          </a:p>
        </p:txBody>
      </p:sp>
      <p:sp>
        <p:nvSpPr>
          <p:cNvPr id="15" name="Shape 11"/>
          <p:cNvSpPr/>
          <p:nvPr/>
        </p:nvSpPr>
        <p:spPr>
          <a:xfrm>
            <a:off x="8961120" y="2706624"/>
            <a:ext cx="0" cy="146304"/>
          </a:xfrm>
          <a:prstGeom prst="line">
            <a:avLst/>
          </a:prstGeom>
          <a:noFill/>
          <a:ln w="25400">
            <a:solidFill>
              <a:srgbClr val="00A896"/>
            </a:solidFill>
            <a:prstDash val="solid"/>
            <a:tailEnd type="triangle"/>
          </a:ln>
        </p:spPr>
        <p:txBody>
          <a:bodyPr/>
          <a:lstStyle/>
          <a:p>
            <a:endParaRPr lang="en-IN"/>
          </a:p>
        </p:txBody>
      </p:sp>
      <p:sp>
        <p:nvSpPr>
          <p:cNvPr id="16" name="Shape 12"/>
          <p:cNvSpPr/>
          <p:nvPr/>
        </p:nvSpPr>
        <p:spPr>
          <a:xfrm>
            <a:off x="6583680" y="2852928"/>
            <a:ext cx="4754880" cy="420624"/>
          </a:xfrm>
          <a:prstGeom prst="roundRect">
            <a:avLst>
              <a:gd name="adj" fmla="val 13043"/>
            </a:avLst>
          </a:prstGeom>
          <a:solidFill>
            <a:srgbClr val="028090"/>
          </a:solidFill>
          <a:ln/>
        </p:spPr>
        <p:txBody>
          <a:bodyPr/>
          <a:lstStyle/>
          <a:p>
            <a:endParaRPr lang="en-IN"/>
          </a:p>
        </p:txBody>
      </p:sp>
      <p:sp>
        <p:nvSpPr>
          <p:cNvPr id="17" name="Text 13"/>
          <p:cNvSpPr txBox="1"/>
          <p:nvPr/>
        </p:nvSpPr>
        <p:spPr>
          <a:xfrm>
            <a:off x="6629400" y="2852928"/>
            <a:ext cx="4663440" cy="42062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ML Model</a:t>
            </a:r>
            <a:endParaRPr lang="en-US" sz="1050" dirty="0"/>
          </a:p>
        </p:txBody>
      </p:sp>
      <p:sp>
        <p:nvSpPr>
          <p:cNvPr id="18" name="Shape 14"/>
          <p:cNvSpPr/>
          <p:nvPr/>
        </p:nvSpPr>
        <p:spPr>
          <a:xfrm>
            <a:off x="8961120" y="3273552"/>
            <a:ext cx="0" cy="146304"/>
          </a:xfrm>
          <a:prstGeom prst="line">
            <a:avLst/>
          </a:prstGeom>
          <a:noFill/>
          <a:ln w="25400">
            <a:solidFill>
              <a:srgbClr val="00A896"/>
            </a:solidFill>
            <a:prstDash val="solid"/>
            <a:tailEnd type="triangle"/>
          </a:ln>
        </p:spPr>
        <p:txBody>
          <a:bodyPr/>
          <a:lstStyle/>
          <a:p>
            <a:endParaRPr lang="en-IN"/>
          </a:p>
        </p:txBody>
      </p:sp>
      <p:sp>
        <p:nvSpPr>
          <p:cNvPr id="19" name="Shape 15"/>
          <p:cNvSpPr/>
          <p:nvPr/>
        </p:nvSpPr>
        <p:spPr>
          <a:xfrm>
            <a:off x="6583680" y="3419856"/>
            <a:ext cx="4754880" cy="420624"/>
          </a:xfrm>
          <a:prstGeom prst="roundRect">
            <a:avLst>
              <a:gd name="adj" fmla="val 13043"/>
            </a:avLst>
          </a:prstGeom>
          <a:solidFill>
            <a:srgbClr val="028090"/>
          </a:solidFill>
          <a:ln/>
        </p:spPr>
        <p:txBody>
          <a:bodyPr/>
          <a:lstStyle/>
          <a:p>
            <a:endParaRPr lang="en-IN"/>
          </a:p>
        </p:txBody>
      </p:sp>
      <p:sp>
        <p:nvSpPr>
          <p:cNvPr id="20" name="Text 16"/>
          <p:cNvSpPr txBox="1"/>
          <p:nvPr/>
        </p:nvSpPr>
        <p:spPr>
          <a:xfrm>
            <a:off x="6629400" y="3419856"/>
            <a:ext cx="4663440" cy="42062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Prediction + Confidence + Important Factors</a:t>
            </a:r>
            <a:endParaRPr lang="en-US" sz="1050" dirty="0"/>
          </a:p>
        </p:txBody>
      </p:sp>
      <p:sp>
        <p:nvSpPr>
          <p:cNvPr id="21" name="Shape 17"/>
          <p:cNvSpPr/>
          <p:nvPr/>
        </p:nvSpPr>
        <p:spPr>
          <a:xfrm>
            <a:off x="8961120" y="3840480"/>
            <a:ext cx="0" cy="146304"/>
          </a:xfrm>
          <a:prstGeom prst="line">
            <a:avLst/>
          </a:prstGeom>
          <a:noFill/>
          <a:ln w="25400">
            <a:solidFill>
              <a:srgbClr val="00A896"/>
            </a:solidFill>
            <a:prstDash val="solid"/>
            <a:tailEnd type="triangle"/>
          </a:ln>
        </p:spPr>
        <p:txBody>
          <a:bodyPr/>
          <a:lstStyle/>
          <a:p>
            <a:endParaRPr lang="en-IN"/>
          </a:p>
        </p:txBody>
      </p:sp>
      <p:sp>
        <p:nvSpPr>
          <p:cNvPr id="22" name="Shape 18"/>
          <p:cNvSpPr/>
          <p:nvPr/>
        </p:nvSpPr>
        <p:spPr>
          <a:xfrm>
            <a:off x="6583680" y="3986784"/>
            <a:ext cx="4754880" cy="420624"/>
          </a:xfrm>
          <a:prstGeom prst="roundRect">
            <a:avLst>
              <a:gd name="adj" fmla="val 13043"/>
            </a:avLst>
          </a:prstGeom>
          <a:solidFill>
            <a:srgbClr val="028090"/>
          </a:solidFill>
          <a:ln/>
        </p:spPr>
        <p:txBody>
          <a:bodyPr/>
          <a:lstStyle/>
          <a:p>
            <a:endParaRPr lang="en-IN"/>
          </a:p>
        </p:txBody>
      </p:sp>
      <p:sp>
        <p:nvSpPr>
          <p:cNvPr id="23" name="Text 19"/>
          <p:cNvSpPr txBox="1"/>
          <p:nvPr/>
        </p:nvSpPr>
        <p:spPr>
          <a:xfrm>
            <a:off x="6629400" y="3986784"/>
            <a:ext cx="4663440" cy="42062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Gemini API</a:t>
            </a:r>
            <a:endParaRPr lang="en-US" sz="1050" dirty="0"/>
          </a:p>
        </p:txBody>
      </p:sp>
      <p:sp>
        <p:nvSpPr>
          <p:cNvPr id="24" name="Shape 20"/>
          <p:cNvSpPr/>
          <p:nvPr/>
        </p:nvSpPr>
        <p:spPr>
          <a:xfrm>
            <a:off x="8961120" y="4407408"/>
            <a:ext cx="0" cy="146304"/>
          </a:xfrm>
          <a:prstGeom prst="line">
            <a:avLst/>
          </a:prstGeom>
          <a:noFill/>
          <a:ln w="25400">
            <a:solidFill>
              <a:srgbClr val="00A896"/>
            </a:solidFill>
            <a:prstDash val="solid"/>
            <a:tailEnd type="triangle"/>
          </a:ln>
        </p:spPr>
        <p:txBody>
          <a:bodyPr/>
          <a:lstStyle/>
          <a:p>
            <a:endParaRPr lang="en-IN"/>
          </a:p>
        </p:txBody>
      </p:sp>
      <p:sp>
        <p:nvSpPr>
          <p:cNvPr id="25" name="Shape 21"/>
          <p:cNvSpPr/>
          <p:nvPr/>
        </p:nvSpPr>
        <p:spPr>
          <a:xfrm>
            <a:off x="6583680" y="4553712"/>
            <a:ext cx="4754880" cy="420624"/>
          </a:xfrm>
          <a:prstGeom prst="roundRect">
            <a:avLst>
              <a:gd name="adj" fmla="val 13043"/>
            </a:avLst>
          </a:prstGeom>
          <a:solidFill>
            <a:srgbClr val="02C39A"/>
          </a:solidFill>
          <a:ln/>
        </p:spPr>
        <p:txBody>
          <a:bodyPr/>
          <a:lstStyle/>
          <a:p>
            <a:endParaRPr lang="en-IN"/>
          </a:p>
        </p:txBody>
      </p:sp>
      <p:sp>
        <p:nvSpPr>
          <p:cNvPr id="26" name="Text 22"/>
          <p:cNvSpPr txBox="1"/>
          <p:nvPr/>
        </p:nvSpPr>
        <p:spPr>
          <a:xfrm>
            <a:off x="6629400" y="4553712"/>
            <a:ext cx="4663440" cy="420624"/>
          </a:xfrm>
          <a:prstGeom prst="rect">
            <a:avLst/>
          </a:prstGeom>
          <a:noFill/>
          <a:ln/>
        </p:spPr>
        <p:txBody>
          <a:bodyPr wrap="square" lIns="0" tIns="0" rIns="0" bIns="0" rtlCol="0" anchor="ctr"/>
          <a:lstStyle/>
          <a:p>
            <a:pPr marL="0" indent="0" algn="ctr">
              <a:buNone/>
            </a:pPr>
            <a:r>
              <a:rPr lang="en-US" sz="1050" b="1" dirty="0">
                <a:solidFill>
                  <a:srgbClr val="0E2A2C"/>
                </a:solidFill>
                <a:latin typeface="Calibri" pitchFamily="34" charset="0"/>
                <a:ea typeface="Calibri" pitchFamily="34" charset="-122"/>
                <a:cs typeface="Calibri" pitchFamily="34" charset="-120"/>
              </a:rPr>
              <a:t>AI-Generated Explanation</a:t>
            </a:r>
            <a:endParaRPr lang="en-US" sz="1050" dirty="0"/>
          </a:p>
        </p:txBody>
      </p:sp>
      <p:sp>
        <p:nvSpPr>
          <p:cNvPr id="27" name="Text 23"/>
          <p:cNvSpPr txBox="1"/>
          <p:nvPr/>
        </p:nvSpPr>
        <p:spPr>
          <a:xfrm>
            <a:off x="6583680" y="5157216"/>
            <a:ext cx="4754880" cy="868680"/>
          </a:xfrm>
          <a:prstGeom prst="rect">
            <a:avLst/>
          </a:prstGeom>
          <a:noFill/>
          <a:ln/>
        </p:spPr>
        <p:txBody>
          <a:bodyPr wrap="square" lIns="0" tIns="0" rIns="0" bIns="0" rtlCol="0" anchor="t"/>
          <a:lstStyle/>
          <a:p>
            <a:pPr marL="0" indent="0">
              <a:lnSpc>
                <a:spcPct val="115000"/>
              </a:lnSpc>
              <a:buNone/>
            </a:pPr>
            <a:r>
              <a:rPr lang="en-US" sz="1050" i="1" dirty="0">
                <a:solidFill>
                  <a:srgbClr val="BFE3E0"/>
                </a:solidFill>
                <a:latin typeface="Calibri" pitchFamily="34" charset="0"/>
                <a:ea typeface="Calibri" pitchFamily="34" charset="-122"/>
                <a:cs typeface="Calibri" pitchFamily="34" charset="-120"/>
              </a:rPr>
              <a:t>Gemini acts only as an explanation layer, not the medical decision engine — it receives structured classification data, not raw patient identifiers, and every explanation ships with a safety disclaimer.</a:t>
            </a:r>
            <a:endParaRPr lang="en-US" sz="1050" dirty="0"/>
          </a:p>
        </p:txBody>
      </p:sp>
      <p:sp>
        <p:nvSpPr>
          <p:cNvPr id="29" name="Text 24"/>
          <p:cNvSpPr txBox="1"/>
          <p:nvPr/>
        </p:nvSpPr>
        <p:spPr>
          <a:xfrm>
            <a:off x="11548872" y="6473952"/>
            <a:ext cx="365760" cy="274320"/>
          </a:xfrm>
          <a:prstGeom prst="rect">
            <a:avLst/>
          </a:prstGeom>
          <a:noFill/>
          <a:ln/>
        </p:spPr>
        <p:txBody>
          <a:bodyPr wrap="square" lIns="0" tIns="0" rIns="0" bIns="0" rtlCol="0" anchor="ctr"/>
          <a:lstStyle/>
          <a:p>
            <a:pPr marL="0" indent="0" algn="r">
              <a:buNone/>
            </a:pPr>
            <a:r>
              <a:rPr lang="en-US" sz="1000" dirty="0">
                <a:solidFill>
                  <a:srgbClr val="4E6A6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AF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85800"/>
          </a:xfrm>
          <a:prstGeom prst="rect">
            <a:avLst/>
          </a:prstGeom>
          <a:noFill/>
          <a:ln/>
        </p:spPr>
        <p:txBody>
          <a:bodyPr wrap="square" lIns="0" tIns="0" rIns="0" bIns="0" rtlCol="0" anchor="ctr"/>
          <a:lstStyle/>
          <a:p>
            <a:pPr marL="0" indent="0" algn="l">
              <a:buNone/>
            </a:pPr>
            <a:r>
              <a:rPr lang="en-US" sz="3000" b="1" dirty="0">
                <a:solidFill>
                  <a:srgbClr val="0E2A2C"/>
                </a:solidFill>
                <a:latin typeface="Cambria" pitchFamily="34" charset="0"/>
                <a:ea typeface="Cambria" pitchFamily="34" charset="-122"/>
                <a:cs typeface="Cambria" pitchFamily="34" charset="-120"/>
              </a:rPr>
              <a:t>Technology Stack &amp; Implementation Workflow</a:t>
            </a:r>
            <a:endParaRPr lang="en-US" sz="3000" dirty="0"/>
          </a:p>
        </p:txBody>
      </p:sp>
      <p:sp>
        <p:nvSpPr>
          <p:cNvPr id="3" name="Text 1"/>
          <p:cNvSpPr txBox="1"/>
          <p:nvPr/>
        </p:nvSpPr>
        <p:spPr>
          <a:xfrm>
            <a:off x="548640" y="987552"/>
            <a:ext cx="11091672" cy="365760"/>
          </a:xfrm>
          <a:prstGeom prst="rect">
            <a:avLst/>
          </a:prstGeom>
          <a:noFill/>
          <a:ln/>
        </p:spPr>
        <p:txBody>
          <a:bodyPr wrap="square" lIns="0" tIns="0" rIns="0" bIns="0" rtlCol="0" anchor="ctr"/>
          <a:lstStyle/>
          <a:p>
            <a:pPr marL="0" indent="0" algn="l">
              <a:buNone/>
            </a:pPr>
            <a:r>
              <a:rPr lang="en-US" sz="1300" i="1" dirty="0">
                <a:solidFill>
                  <a:srgbClr val="4E6A6C"/>
                </a:solidFill>
                <a:latin typeface="Calibri" pitchFamily="34" charset="0"/>
                <a:ea typeface="Calibri" pitchFamily="34" charset="-122"/>
                <a:cs typeface="Calibri" pitchFamily="34" charset="-120"/>
              </a:rPr>
              <a:t>What each layer is built with, and the steps a request takes through the app</a:t>
            </a:r>
            <a:endParaRPr lang="en-US" sz="1300" dirty="0"/>
          </a:p>
        </p:txBody>
      </p:sp>
      <p:sp>
        <p:nvSpPr>
          <p:cNvPr id="4" name="Shape 2"/>
          <p:cNvSpPr/>
          <p:nvPr/>
        </p:nvSpPr>
        <p:spPr>
          <a:xfrm>
            <a:off x="548640" y="1463040"/>
            <a:ext cx="3177540" cy="1085850"/>
          </a:xfrm>
          <a:prstGeom prst="roundRect">
            <a:avLst>
              <a:gd name="adj" fmla="val 6737"/>
            </a:avLst>
          </a:prstGeom>
          <a:solidFill>
            <a:srgbClr val="FFFFFF"/>
          </a:solidFill>
          <a:ln w="12700">
            <a:solidFill>
              <a:srgbClr val="D9E7E6"/>
            </a:solidFill>
            <a:prstDash val="solid"/>
          </a:ln>
        </p:spPr>
        <p:txBody>
          <a:bodyPr/>
          <a:lstStyle/>
          <a:p>
            <a:endParaRPr lang="en-IN"/>
          </a:p>
        </p:txBody>
      </p:sp>
      <p:sp>
        <p:nvSpPr>
          <p:cNvPr id="5" name="Shape 3"/>
          <p:cNvSpPr/>
          <p:nvPr/>
        </p:nvSpPr>
        <p:spPr>
          <a:xfrm>
            <a:off x="685800" y="1804797"/>
            <a:ext cx="402336" cy="402336"/>
          </a:xfrm>
          <a:prstGeom prst="ellipse">
            <a:avLst/>
          </a:prstGeom>
          <a:solidFill>
            <a:srgbClr val="00A896"/>
          </a:solidFill>
          <a:ln/>
        </p:spPr>
        <p:txBody>
          <a:bodyPr/>
          <a:lstStyle/>
          <a:p>
            <a:endParaRPr lang="en-IN"/>
          </a:p>
        </p:txBody>
      </p:sp>
      <p:pic>
        <p:nvPicPr>
          <p:cNvPr id="6" name="Image 0" descr="/home/claude/deck/icons/layers.png"/>
          <p:cNvPicPr>
            <a:picLocks noChangeAspect="1"/>
          </p:cNvPicPr>
          <p:nvPr/>
        </p:nvPicPr>
        <p:blipFill>
          <a:blip r:embed="rId3"/>
          <a:stretch>
            <a:fillRect/>
          </a:stretch>
        </p:blipFill>
        <p:spPr>
          <a:xfrm>
            <a:off x="776326" y="1895323"/>
            <a:ext cx="221285" cy="221285"/>
          </a:xfrm>
          <a:prstGeom prst="rect">
            <a:avLst/>
          </a:prstGeom>
        </p:spPr>
      </p:pic>
      <p:sp>
        <p:nvSpPr>
          <p:cNvPr id="7" name="Text 4"/>
          <p:cNvSpPr txBox="1"/>
          <p:nvPr/>
        </p:nvSpPr>
        <p:spPr>
          <a:xfrm>
            <a:off x="1170432" y="1536192"/>
            <a:ext cx="2446020" cy="292608"/>
          </a:xfrm>
          <a:prstGeom prst="rect">
            <a:avLst/>
          </a:prstGeom>
          <a:noFill/>
          <a:ln/>
        </p:spPr>
        <p:txBody>
          <a:bodyPr wrap="square" lIns="0" tIns="0" rIns="0" bIns="0" rtlCol="0" anchor="t"/>
          <a:lstStyle/>
          <a:p>
            <a:pPr marL="0" indent="0">
              <a:buNone/>
            </a:pPr>
            <a:r>
              <a:rPr lang="en-US" sz="1150" b="1" dirty="0">
                <a:solidFill>
                  <a:srgbClr val="0E2A2C"/>
                </a:solidFill>
                <a:latin typeface="Calibri" pitchFamily="34" charset="0"/>
                <a:ea typeface="Calibri" pitchFamily="34" charset="-122"/>
                <a:cs typeface="Calibri" pitchFamily="34" charset="-120"/>
              </a:rPr>
              <a:t>Frontend</a:t>
            </a:r>
            <a:endParaRPr lang="en-US" sz="1150" dirty="0"/>
          </a:p>
        </p:txBody>
      </p:sp>
      <p:sp>
        <p:nvSpPr>
          <p:cNvPr id="8" name="Text 5"/>
          <p:cNvSpPr txBox="1"/>
          <p:nvPr/>
        </p:nvSpPr>
        <p:spPr>
          <a:xfrm>
            <a:off x="1170432" y="1828800"/>
            <a:ext cx="2446020" cy="674370"/>
          </a:xfrm>
          <a:prstGeom prst="rect">
            <a:avLst/>
          </a:prstGeom>
          <a:noFill/>
          <a:ln/>
        </p:spPr>
        <p:txBody>
          <a:bodyPr wrap="square" lIns="0" tIns="0" rIns="0" bIns="0" rtlCol="0" anchor="t"/>
          <a:lstStyle/>
          <a:p>
            <a:pPr marL="0" indent="0">
              <a:lnSpc>
                <a:spcPct val="105000"/>
              </a:lnSpc>
              <a:buNone/>
            </a:pPr>
            <a:r>
              <a:rPr lang="en-US" sz="950" dirty="0">
                <a:solidFill>
                  <a:srgbClr val="4E6A6C"/>
                </a:solidFill>
                <a:latin typeface="Calibri" pitchFamily="34" charset="0"/>
                <a:ea typeface="Calibri" pitchFamily="34" charset="-122"/>
                <a:cs typeface="Calibri" pitchFamily="34" charset="-120"/>
              </a:rPr>
              <a:t>React.js, Vite, Tailwind CSS, Recharts</a:t>
            </a:r>
            <a:endParaRPr lang="en-US" sz="950" dirty="0"/>
          </a:p>
        </p:txBody>
      </p:sp>
      <p:sp>
        <p:nvSpPr>
          <p:cNvPr id="9" name="Shape 6"/>
          <p:cNvSpPr/>
          <p:nvPr/>
        </p:nvSpPr>
        <p:spPr>
          <a:xfrm>
            <a:off x="3863340" y="1463040"/>
            <a:ext cx="3177540" cy="1085850"/>
          </a:xfrm>
          <a:prstGeom prst="roundRect">
            <a:avLst>
              <a:gd name="adj" fmla="val 6737"/>
            </a:avLst>
          </a:prstGeom>
          <a:solidFill>
            <a:srgbClr val="FFFFFF"/>
          </a:solidFill>
          <a:ln w="12700">
            <a:solidFill>
              <a:srgbClr val="D9E7E6"/>
            </a:solidFill>
            <a:prstDash val="solid"/>
          </a:ln>
        </p:spPr>
        <p:txBody>
          <a:bodyPr/>
          <a:lstStyle/>
          <a:p>
            <a:endParaRPr lang="en-IN"/>
          </a:p>
        </p:txBody>
      </p:sp>
      <p:sp>
        <p:nvSpPr>
          <p:cNvPr id="10" name="Shape 7"/>
          <p:cNvSpPr/>
          <p:nvPr/>
        </p:nvSpPr>
        <p:spPr>
          <a:xfrm>
            <a:off x="4000500" y="1804797"/>
            <a:ext cx="402336" cy="402336"/>
          </a:xfrm>
          <a:prstGeom prst="ellipse">
            <a:avLst/>
          </a:prstGeom>
          <a:solidFill>
            <a:srgbClr val="00A896"/>
          </a:solidFill>
          <a:ln/>
        </p:spPr>
        <p:txBody>
          <a:bodyPr/>
          <a:lstStyle/>
          <a:p>
            <a:endParaRPr lang="en-IN"/>
          </a:p>
        </p:txBody>
      </p:sp>
      <p:pic>
        <p:nvPicPr>
          <p:cNvPr id="11" name="Image 1" descr="/home/claude/deck/icons/server.png"/>
          <p:cNvPicPr>
            <a:picLocks noChangeAspect="1"/>
          </p:cNvPicPr>
          <p:nvPr/>
        </p:nvPicPr>
        <p:blipFill>
          <a:blip r:embed="rId4"/>
          <a:stretch>
            <a:fillRect/>
          </a:stretch>
        </p:blipFill>
        <p:spPr>
          <a:xfrm>
            <a:off x="4091026" y="1895323"/>
            <a:ext cx="221285" cy="221285"/>
          </a:xfrm>
          <a:prstGeom prst="rect">
            <a:avLst/>
          </a:prstGeom>
        </p:spPr>
      </p:pic>
      <p:sp>
        <p:nvSpPr>
          <p:cNvPr id="12" name="Text 8"/>
          <p:cNvSpPr txBox="1"/>
          <p:nvPr/>
        </p:nvSpPr>
        <p:spPr>
          <a:xfrm>
            <a:off x="4485132" y="1536192"/>
            <a:ext cx="2446020" cy="292608"/>
          </a:xfrm>
          <a:prstGeom prst="rect">
            <a:avLst/>
          </a:prstGeom>
          <a:noFill/>
          <a:ln/>
        </p:spPr>
        <p:txBody>
          <a:bodyPr wrap="square" lIns="0" tIns="0" rIns="0" bIns="0" rtlCol="0" anchor="t"/>
          <a:lstStyle/>
          <a:p>
            <a:pPr marL="0" indent="0">
              <a:buNone/>
            </a:pPr>
            <a:r>
              <a:rPr lang="en-US" sz="1150" b="1" dirty="0">
                <a:solidFill>
                  <a:srgbClr val="0E2A2C"/>
                </a:solidFill>
                <a:latin typeface="Calibri" pitchFamily="34" charset="0"/>
                <a:ea typeface="Calibri" pitchFamily="34" charset="-122"/>
                <a:cs typeface="Calibri" pitchFamily="34" charset="-120"/>
              </a:rPr>
              <a:t>Backend</a:t>
            </a:r>
            <a:endParaRPr lang="en-US" sz="1150" dirty="0"/>
          </a:p>
        </p:txBody>
      </p:sp>
      <p:sp>
        <p:nvSpPr>
          <p:cNvPr id="13" name="Text 9"/>
          <p:cNvSpPr txBox="1"/>
          <p:nvPr/>
        </p:nvSpPr>
        <p:spPr>
          <a:xfrm>
            <a:off x="4485132" y="1828800"/>
            <a:ext cx="2446020" cy="674370"/>
          </a:xfrm>
          <a:prstGeom prst="rect">
            <a:avLst/>
          </a:prstGeom>
          <a:noFill/>
          <a:ln/>
        </p:spPr>
        <p:txBody>
          <a:bodyPr wrap="square" lIns="0" tIns="0" rIns="0" bIns="0" rtlCol="0" anchor="t"/>
          <a:lstStyle/>
          <a:p>
            <a:pPr marL="0" indent="0">
              <a:lnSpc>
                <a:spcPct val="105000"/>
              </a:lnSpc>
              <a:buNone/>
            </a:pPr>
            <a:r>
              <a:rPr lang="en-US" sz="950" dirty="0">
                <a:solidFill>
                  <a:srgbClr val="4E6A6C"/>
                </a:solidFill>
                <a:latin typeface="Calibri" pitchFamily="34" charset="0"/>
                <a:ea typeface="Calibri" pitchFamily="34" charset="-122"/>
                <a:cs typeface="Calibri" pitchFamily="34" charset="-120"/>
              </a:rPr>
              <a:t>Python, FastAPI</a:t>
            </a:r>
            <a:endParaRPr lang="en-US" sz="950" dirty="0"/>
          </a:p>
        </p:txBody>
      </p:sp>
      <p:sp>
        <p:nvSpPr>
          <p:cNvPr id="14" name="Shape 10"/>
          <p:cNvSpPr/>
          <p:nvPr/>
        </p:nvSpPr>
        <p:spPr>
          <a:xfrm>
            <a:off x="548640" y="2686050"/>
            <a:ext cx="3177540" cy="1085850"/>
          </a:xfrm>
          <a:prstGeom prst="roundRect">
            <a:avLst>
              <a:gd name="adj" fmla="val 6737"/>
            </a:avLst>
          </a:prstGeom>
          <a:solidFill>
            <a:srgbClr val="FFFFFF"/>
          </a:solidFill>
          <a:ln w="12700">
            <a:solidFill>
              <a:srgbClr val="D9E7E6"/>
            </a:solidFill>
            <a:prstDash val="solid"/>
          </a:ln>
        </p:spPr>
        <p:txBody>
          <a:bodyPr/>
          <a:lstStyle/>
          <a:p>
            <a:endParaRPr lang="en-IN"/>
          </a:p>
        </p:txBody>
      </p:sp>
      <p:sp>
        <p:nvSpPr>
          <p:cNvPr id="15" name="Shape 11"/>
          <p:cNvSpPr/>
          <p:nvPr/>
        </p:nvSpPr>
        <p:spPr>
          <a:xfrm>
            <a:off x="685800" y="3027807"/>
            <a:ext cx="402336" cy="402336"/>
          </a:xfrm>
          <a:prstGeom prst="ellipse">
            <a:avLst/>
          </a:prstGeom>
          <a:solidFill>
            <a:srgbClr val="00A896"/>
          </a:solidFill>
          <a:ln/>
        </p:spPr>
        <p:txBody>
          <a:bodyPr/>
          <a:lstStyle/>
          <a:p>
            <a:endParaRPr lang="en-IN"/>
          </a:p>
        </p:txBody>
      </p:sp>
      <p:pic>
        <p:nvPicPr>
          <p:cNvPr id="16" name="Image 2" descr="/home/claude/deck/icons/brain.png"/>
          <p:cNvPicPr>
            <a:picLocks noChangeAspect="1"/>
          </p:cNvPicPr>
          <p:nvPr/>
        </p:nvPicPr>
        <p:blipFill>
          <a:blip r:embed="rId5"/>
          <a:stretch>
            <a:fillRect/>
          </a:stretch>
        </p:blipFill>
        <p:spPr>
          <a:xfrm>
            <a:off x="776326" y="3118333"/>
            <a:ext cx="221285" cy="221285"/>
          </a:xfrm>
          <a:prstGeom prst="rect">
            <a:avLst/>
          </a:prstGeom>
        </p:spPr>
      </p:pic>
      <p:sp>
        <p:nvSpPr>
          <p:cNvPr id="17" name="Text 12"/>
          <p:cNvSpPr txBox="1"/>
          <p:nvPr/>
        </p:nvSpPr>
        <p:spPr>
          <a:xfrm>
            <a:off x="1170432" y="2759202"/>
            <a:ext cx="2446020" cy="292608"/>
          </a:xfrm>
          <a:prstGeom prst="rect">
            <a:avLst/>
          </a:prstGeom>
          <a:noFill/>
          <a:ln/>
        </p:spPr>
        <p:txBody>
          <a:bodyPr wrap="square" lIns="0" tIns="0" rIns="0" bIns="0" rtlCol="0" anchor="t"/>
          <a:lstStyle/>
          <a:p>
            <a:pPr marL="0" indent="0">
              <a:buNone/>
            </a:pPr>
            <a:r>
              <a:rPr lang="en-US" sz="1150" b="1" dirty="0">
                <a:solidFill>
                  <a:srgbClr val="0E2A2C"/>
                </a:solidFill>
                <a:latin typeface="Calibri" pitchFamily="34" charset="0"/>
                <a:ea typeface="Calibri" pitchFamily="34" charset="-122"/>
                <a:cs typeface="Calibri" pitchFamily="34" charset="-120"/>
              </a:rPr>
              <a:t>Machine Learning</a:t>
            </a:r>
            <a:endParaRPr lang="en-US" sz="1150" dirty="0"/>
          </a:p>
        </p:txBody>
      </p:sp>
      <p:sp>
        <p:nvSpPr>
          <p:cNvPr id="18" name="Text 13"/>
          <p:cNvSpPr txBox="1"/>
          <p:nvPr/>
        </p:nvSpPr>
        <p:spPr>
          <a:xfrm>
            <a:off x="1170432" y="3051810"/>
            <a:ext cx="2446020" cy="674370"/>
          </a:xfrm>
          <a:prstGeom prst="rect">
            <a:avLst/>
          </a:prstGeom>
          <a:noFill/>
          <a:ln/>
        </p:spPr>
        <p:txBody>
          <a:bodyPr wrap="square" lIns="0" tIns="0" rIns="0" bIns="0" rtlCol="0" anchor="t"/>
          <a:lstStyle/>
          <a:p>
            <a:pPr marL="0" indent="0">
              <a:lnSpc>
                <a:spcPct val="105000"/>
              </a:lnSpc>
              <a:buNone/>
            </a:pPr>
            <a:r>
              <a:rPr lang="en-US" sz="950" dirty="0">
                <a:solidFill>
                  <a:srgbClr val="4E6A6C"/>
                </a:solidFill>
                <a:latin typeface="Calibri" pitchFamily="34" charset="0"/>
                <a:ea typeface="Calibri" pitchFamily="34" charset="-122"/>
                <a:cs typeface="Calibri" pitchFamily="34" charset="-120"/>
              </a:rPr>
              <a:t>Scikit-learn (+ XGBoost optional)</a:t>
            </a:r>
            <a:endParaRPr lang="en-US" sz="950" dirty="0"/>
          </a:p>
        </p:txBody>
      </p:sp>
      <p:sp>
        <p:nvSpPr>
          <p:cNvPr id="19" name="Shape 14"/>
          <p:cNvSpPr/>
          <p:nvPr/>
        </p:nvSpPr>
        <p:spPr>
          <a:xfrm>
            <a:off x="3863340" y="2686050"/>
            <a:ext cx="3177540" cy="1085850"/>
          </a:xfrm>
          <a:prstGeom prst="roundRect">
            <a:avLst>
              <a:gd name="adj" fmla="val 6737"/>
            </a:avLst>
          </a:prstGeom>
          <a:solidFill>
            <a:srgbClr val="FFFFFF"/>
          </a:solidFill>
          <a:ln w="12700">
            <a:solidFill>
              <a:srgbClr val="D9E7E6"/>
            </a:solidFill>
            <a:prstDash val="solid"/>
          </a:ln>
        </p:spPr>
        <p:txBody>
          <a:bodyPr/>
          <a:lstStyle/>
          <a:p>
            <a:endParaRPr lang="en-IN"/>
          </a:p>
        </p:txBody>
      </p:sp>
      <p:sp>
        <p:nvSpPr>
          <p:cNvPr id="20" name="Shape 15"/>
          <p:cNvSpPr/>
          <p:nvPr/>
        </p:nvSpPr>
        <p:spPr>
          <a:xfrm>
            <a:off x="4000500" y="3027807"/>
            <a:ext cx="402336" cy="402336"/>
          </a:xfrm>
          <a:prstGeom prst="ellipse">
            <a:avLst/>
          </a:prstGeom>
          <a:solidFill>
            <a:srgbClr val="00A896"/>
          </a:solidFill>
          <a:ln/>
        </p:spPr>
        <p:txBody>
          <a:bodyPr/>
          <a:lstStyle/>
          <a:p>
            <a:endParaRPr lang="en-IN"/>
          </a:p>
        </p:txBody>
      </p:sp>
      <p:pic>
        <p:nvPicPr>
          <p:cNvPr id="21" name="Image 3" descr="/home/claude/deck/icons/robot.png"/>
          <p:cNvPicPr>
            <a:picLocks noChangeAspect="1"/>
          </p:cNvPicPr>
          <p:nvPr/>
        </p:nvPicPr>
        <p:blipFill>
          <a:blip r:embed="rId6"/>
          <a:stretch>
            <a:fillRect/>
          </a:stretch>
        </p:blipFill>
        <p:spPr>
          <a:xfrm>
            <a:off x="4091026" y="3118333"/>
            <a:ext cx="221285" cy="221285"/>
          </a:xfrm>
          <a:prstGeom prst="rect">
            <a:avLst/>
          </a:prstGeom>
        </p:spPr>
      </p:pic>
      <p:sp>
        <p:nvSpPr>
          <p:cNvPr id="22" name="Text 16"/>
          <p:cNvSpPr txBox="1"/>
          <p:nvPr/>
        </p:nvSpPr>
        <p:spPr>
          <a:xfrm>
            <a:off x="4485132" y="2759202"/>
            <a:ext cx="2446020" cy="292608"/>
          </a:xfrm>
          <a:prstGeom prst="rect">
            <a:avLst/>
          </a:prstGeom>
          <a:noFill/>
          <a:ln/>
        </p:spPr>
        <p:txBody>
          <a:bodyPr wrap="square" lIns="0" tIns="0" rIns="0" bIns="0" rtlCol="0" anchor="t"/>
          <a:lstStyle/>
          <a:p>
            <a:pPr marL="0" indent="0">
              <a:buNone/>
            </a:pPr>
            <a:r>
              <a:rPr lang="en-US" sz="1150" b="1" dirty="0">
                <a:solidFill>
                  <a:srgbClr val="0E2A2C"/>
                </a:solidFill>
                <a:latin typeface="Calibri" pitchFamily="34" charset="0"/>
                <a:ea typeface="Calibri" pitchFamily="34" charset="-122"/>
                <a:cs typeface="Calibri" pitchFamily="34" charset="-120"/>
              </a:rPr>
              <a:t>Generative AI</a:t>
            </a:r>
            <a:endParaRPr lang="en-US" sz="1150" dirty="0"/>
          </a:p>
        </p:txBody>
      </p:sp>
      <p:sp>
        <p:nvSpPr>
          <p:cNvPr id="23" name="Text 17"/>
          <p:cNvSpPr txBox="1"/>
          <p:nvPr/>
        </p:nvSpPr>
        <p:spPr>
          <a:xfrm>
            <a:off x="4485132" y="3051810"/>
            <a:ext cx="2446020" cy="674370"/>
          </a:xfrm>
          <a:prstGeom prst="rect">
            <a:avLst/>
          </a:prstGeom>
          <a:noFill/>
          <a:ln/>
        </p:spPr>
        <p:txBody>
          <a:bodyPr wrap="square" lIns="0" tIns="0" rIns="0" bIns="0" rtlCol="0" anchor="t"/>
          <a:lstStyle/>
          <a:p>
            <a:pPr marL="0" indent="0">
              <a:lnSpc>
                <a:spcPct val="105000"/>
              </a:lnSpc>
              <a:buNone/>
            </a:pPr>
            <a:r>
              <a:rPr lang="en-US" sz="950" dirty="0">
                <a:solidFill>
                  <a:srgbClr val="4E6A6C"/>
                </a:solidFill>
                <a:latin typeface="Calibri" pitchFamily="34" charset="0"/>
                <a:ea typeface="Calibri" pitchFamily="34" charset="-122"/>
                <a:cs typeface="Calibri" pitchFamily="34" charset="-120"/>
              </a:rPr>
              <a:t>Gemini API</a:t>
            </a:r>
            <a:endParaRPr lang="en-US" sz="950" dirty="0"/>
          </a:p>
        </p:txBody>
      </p:sp>
      <p:sp>
        <p:nvSpPr>
          <p:cNvPr id="24" name="Shape 18"/>
          <p:cNvSpPr/>
          <p:nvPr/>
        </p:nvSpPr>
        <p:spPr>
          <a:xfrm>
            <a:off x="548640" y="3909060"/>
            <a:ext cx="3177540" cy="1085850"/>
          </a:xfrm>
          <a:prstGeom prst="roundRect">
            <a:avLst>
              <a:gd name="adj" fmla="val 6737"/>
            </a:avLst>
          </a:prstGeom>
          <a:solidFill>
            <a:srgbClr val="FFFFFF"/>
          </a:solidFill>
          <a:ln w="12700">
            <a:solidFill>
              <a:srgbClr val="D9E7E6"/>
            </a:solidFill>
            <a:prstDash val="solid"/>
          </a:ln>
        </p:spPr>
        <p:txBody>
          <a:bodyPr/>
          <a:lstStyle/>
          <a:p>
            <a:endParaRPr lang="en-IN"/>
          </a:p>
        </p:txBody>
      </p:sp>
      <p:sp>
        <p:nvSpPr>
          <p:cNvPr id="25" name="Shape 19"/>
          <p:cNvSpPr/>
          <p:nvPr/>
        </p:nvSpPr>
        <p:spPr>
          <a:xfrm>
            <a:off x="685800" y="4250817"/>
            <a:ext cx="402336" cy="402336"/>
          </a:xfrm>
          <a:prstGeom prst="ellipse">
            <a:avLst/>
          </a:prstGeom>
          <a:solidFill>
            <a:srgbClr val="00A896"/>
          </a:solidFill>
          <a:ln/>
        </p:spPr>
        <p:txBody>
          <a:bodyPr/>
          <a:lstStyle/>
          <a:p>
            <a:endParaRPr lang="en-IN"/>
          </a:p>
        </p:txBody>
      </p:sp>
      <p:pic>
        <p:nvPicPr>
          <p:cNvPr id="26" name="Image 4" descr="/home/claude/deck/icons/database.png"/>
          <p:cNvPicPr>
            <a:picLocks noChangeAspect="1"/>
          </p:cNvPicPr>
          <p:nvPr/>
        </p:nvPicPr>
        <p:blipFill>
          <a:blip r:embed="rId7"/>
          <a:stretch>
            <a:fillRect/>
          </a:stretch>
        </p:blipFill>
        <p:spPr>
          <a:xfrm>
            <a:off x="776326" y="4341343"/>
            <a:ext cx="221285" cy="221285"/>
          </a:xfrm>
          <a:prstGeom prst="rect">
            <a:avLst/>
          </a:prstGeom>
        </p:spPr>
      </p:pic>
      <p:sp>
        <p:nvSpPr>
          <p:cNvPr id="27" name="Text 20"/>
          <p:cNvSpPr txBox="1"/>
          <p:nvPr/>
        </p:nvSpPr>
        <p:spPr>
          <a:xfrm>
            <a:off x="1170432" y="3982212"/>
            <a:ext cx="2446020" cy="292608"/>
          </a:xfrm>
          <a:prstGeom prst="rect">
            <a:avLst/>
          </a:prstGeom>
          <a:noFill/>
          <a:ln/>
        </p:spPr>
        <p:txBody>
          <a:bodyPr wrap="square" lIns="0" tIns="0" rIns="0" bIns="0" rtlCol="0" anchor="t"/>
          <a:lstStyle/>
          <a:p>
            <a:pPr marL="0" indent="0">
              <a:buNone/>
            </a:pPr>
            <a:r>
              <a:rPr lang="en-US" sz="1150" b="1" dirty="0">
                <a:solidFill>
                  <a:srgbClr val="0E2A2C"/>
                </a:solidFill>
                <a:latin typeface="Calibri" pitchFamily="34" charset="0"/>
                <a:ea typeface="Calibri" pitchFamily="34" charset="-122"/>
                <a:cs typeface="Calibri" pitchFamily="34" charset="-120"/>
              </a:rPr>
              <a:t>Database &amp; ORM</a:t>
            </a:r>
            <a:endParaRPr lang="en-US" sz="1150" dirty="0"/>
          </a:p>
        </p:txBody>
      </p:sp>
      <p:sp>
        <p:nvSpPr>
          <p:cNvPr id="28" name="Text 21"/>
          <p:cNvSpPr txBox="1"/>
          <p:nvPr/>
        </p:nvSpPr>
        <p:spPr>
          <a:xfrm>
            <a:off x="1170432" y="4274820"/>
            <a:ext cx="2446020" cy="674370"/>
          </a:xfrm>
          <a:prstGeom prst="rect">
            <a:avLst/>
          </a:prstGeom>
          <a:noFill/>
          <a:ln/>
        </p:spPr>
        <p:txBody>
          <a:bodyPr wrap="square" lIns="0" tIns="0" rIns="0" bIns="0" rtlCol="0" anchor="t"/>
          <a:lstStyle/>
          <a:p>
            <a:pPr marL="0" indent="0">
              <a:lnSpc>
                <a:spcPct val="105000"/>
              </a:lnSpc>
              <a:buNone/>
            </a:pPr>
            <a:r>
              <a:rPr lang="en-US" sz="950" dirty="0">
                <a:solidFill>
                  <a:srgbClr val="4E6A6C"/>
                </a:solidFill>
                <a:latin typeface="Calibri" pitchFamily="34" charset="0"/>
                <a:ea typeface="Calibri" pitchFamily="34" charset="-122"/>
                <a:cs typeface="Calibri" pitchFamily="34" charset="-120"/>
              </a:rPr>
              <a:t>PostgreSQL, SQLAlchemy</a:t>
            </a:r>
            <a:endParaRPr lang="en-US" sz="950" dirty="0"/>
          </a:p>
        </p:txBody>
      </p:sp>
      <p:sp>
        <p:nvSpPr>
          <p:cNvPr id="29" name="Shape 22"/>
          <p:cNvSpPr/>
          <p:nvPr/>
        </p:nvSpPr>
        <p:spPr>
          <a:xfrm>
            <a:off x="3863340" y="3909060"/>
            <a:ext cx="3177540" cy="1085850"/>
          </a:xfrm>
          <a:prstGeom prst="roundRect">
            <a:avLst>
              <a:gd name="adj" fmla="val 6737"/>
            </a:avLst>
          </a:prstGeom>
          <a:solidFill>
            <a:srgbClr val="FFFFFF"/>
          </a:solidFill>
          <a:ln w="12700">
            <a:solidFill>
              <a:srgbClr val="D9E7E6"/>
            </a:solidFill>
            <a:prstDash val="solid"/>
          </a:ln>
        </p:spPr>
        <p:txBody>
          <a:bodyPr/>
          <a:lstStyle/>
          <a:p>
            <a:endParaRPr lang="en-IN"/>
          </a:p>
        </p:txBody>
      </p:sp>
      <p:sp>
        <p:nvSpPr>
          <p:cNvPr id="30" name="Shape 23"/>
          <p:cNvSpPr/>
          <p:nvPr/>
        </p:nvSpPr>
        <p:spPr>
          <a:xfrm>
            <a:off x="4000500" y="4250817"/>
            <a:ext cx="402336" cy="402336"/>
          </a:xfrm>
          <a:prstGeom prst="ellipse">
            <a:avLst/>
          </a:prstGeom>
          <a:solidFill>
            <a:srgbClr val="00A896"/>
          </a:solidFill>
          <a:ln/>
        </p:spPr>
        <p:txBody>
          <a:bodyPr/>
          <a:lstStyle/>
          <a:p>
            <a:endParaRPr lang="en-IN"/>
          </a:p>
        </p:txBody>
      </p:sp>
      <p:pic>
        <p:nvPicPr>
          <p:cNvPr id="31" name="Image 5" descr="/home/claude/deck/icons/lock.png"/>
          <p:cNvPicPr>
            <a:picLocks noChangeAspect="1"/>
          </p:cNvPicPr>
          <p:nvPr/>
        </p:nvPicPr>
        <p:blipFill>
          <a:blip r:embed="rId8"/>
          <a:stretch>
            <a:fillRect/>
          </a:stretch>
        </p:blipFill>
        <p:spPr>
          <a:xfrm>
            <a:off x="4091026" y="4341343"/>
            <a:ext cx="221285" cy="221285"/>
          </a:xfrm>
          <a:prstGeom prst="rect">
            <a:avLst/>
          </a:prstGeom>
        </p:spPr>
      </p:pic>
      <p:sp>
        <p:nvSpPr>
          <p:cNvPr id="32" name="Text 24"/>
          <p:cNvSpPr txBox="1"/>
          <p:nvPr/>
        </p:nvSpPr>
        <p:spPr>
          <a:xfrm>
            <a:off x="4485132" y="3982212"/>
            <a:ext cx="2446020" cy="292608"/>
          </a:xfrm>
          <a:prstGeom prst="rect">
            <a:avLst/>
          </a:prstGeom>
          <a:noFill/>
          <a:ln/>
        </p:spPr>
        <p:txBody>
          <a:bodyPr wrap="square" lIns="0" tIns="0" rIns="0" bIns="0" rtlCol="0" anchor="t"/>
          <a:lstStyle/>
          <a:p>
            <a:pPr marL="0" indent="0">
              <a:buNone/>
            </a:pPr>
            <a:r>
              <a:rPr lang="en-US" sz="1150" b="1" dirty="0">
                <a:solidFill>
                  <a:srgbClr val="0E2A2C"/>
                </a:solidFill>
                <a:latin typeface="Calibri" pitchFamily="34" charset="0"/>
                <a:ea typeface="Calibri" pitchFamily="34" charset="-122"/>
                <a:cs typeface="Calibri" pitchFamily="34" charset="-120"/>
              </a:rPr>
              <a:t>Auth &amp; Testing</a:t>
            </a:r>
            <a:endParaRPr lang="en-US" sz="1150" dirty="0"/>
          </a:p>
        </p:txBody>
      </p:sp>
      <p:sp>
        <p:nvSpPr>
          <p:cNvPr id="33" name="Text 25"/>
          <p:cNvSpPr txBox="1"/>
          <p:nvPr/>
        </p:nvSpPr>
        <p:spPr>
          <a:xfrm>
            <a:off x="4485132" y="4274820"/>
            <a:ext cx="2446020" cy="674370"/>
          </a:xfrm>
          <a:prstGeom prst="rect">
            <a:avLst/>
          </a:prstGeom>
          <a:noFill/>
          <a:ln/>
        </p:spPr>
        <p:txBody>
          <a:bodyPr wrap="square" lIns="0" tIns="0" rIns="0" bIns="0" rtlCol="0" anchor="t"/>
          <a:lstStyle/>
          <a:p>
            <a:pPr marL="0" indent="0">
              <a:lnSpc>
                <a:spcPct val="105000"/>
              </a:lnSpc>
              <a:buNone/>
            </a:pPr>
            <a:r>
              <a:rPr lang="en-US" sz="950" dirty="0">
                <a:solidFill>
                  <a:srgbClr val="4E6A6C"/>
                </a:solidFill>
                <a:latin typeface="Calibri" pitchFamily="34" charset="0"/>
                <a:ea typeface="Calibri" pitchFamily="34" charset="-122"/>
                <a:cs typeface="Calibri" pitchFamily="34" charset="-120"/>
              </a:rPr>
              <a:t>JWT auth, Postman</a:t>
            </a:r>
            <a:endParaRPr lang="en-US" sz="950" dirty="0"/>
          </a:p>
        </p:txBody>
      </p:sp>
      <p:sp>
        <p:nvSpPr>
          <p:cNvPr id="34" name="Shape 26"/>
          <p:cNvSpPr/>
          <p:nvPr/>
        </p:nvSpPr>
        <p:spPr>
          <a:xfrm>
            <a:off x="548640" y="5132070"/>
            <a:ext cx="3177540" cy="1085850"/>
          </a:xfrm>
          <a:prstGeom prst="roundRect">
            <a:avLst>
              <a:gd name="adj" fmla="val 6737"/>
            </a:avLst>
          </a:prstGeom>
          <a:solidFill>
            <a:srgbClr val="FFFFFF"/>
          </a:solidFill>
          <a:ln w="12700">
            <a:solidFill>
              <a:srgbClr val="D9E7E6"/>
            </a:solidFill>
            <a:prstDash val="solid"/>
          </a:ln>
        </p:spPr>
        <p:txBody>
          <a:bodyPr/>
          <a:lstStyle/>
          <a:p>
            <a:endParaRPr lang="en-IN"/>
          </a:p>
        </p:txBody>
      </p:sp>
      <p:sp>
        <p:nvSpPr>
          <p:cNvPr id="35" name="Shape 27"/>
          <p:cNvSpPr/>
          <p:nvPr/>
        </p:nvSpPr>
        <p:spPr>
          <a:xfrm>
            <a:off x="685800" y="5473827"/>
            <a:ext cx="402336" cy="402336"/>
          </a:xfrm>
          <a:prstGeom prst="ellipse">
            <a:avLst/>
          </a:prstGeom>
          <a:solidFill>
            <a:srgbClr val="00A896"/>
          </a:solidFill>
          <a:ln/>
        </p:spPr>
        <p:txBody>
          <a:bodyPr/>
          <a:lstStyle/>
          <a:p>
            <a:endParaRPr lang="en-IN"/>
          </a:p>
        </p:txBody>
      </p:sp>
      <p:pic>
        <p:nvPicPr>
          <p:cNvPr id="36" name="Image 6" descr="/home/claude/deck/icons/pdf.png"/>
          <p:cNvPicPr>
            <a:picLocks noChangeAspect="1"/>
          </p:cNvPicPr>
          <p:nvPr/>
        </p:nvPicPr>
        <p:blipFill>
          <a:blip r:embed="rId9"/>
          <a:stretch>
            <a:fillRect/>
          </a:stretch>
        </p:blipFill>
        <p:spPr>
          <a:xfrm>
            <a:off x="776326" y="5564353"/>
            <a:ext cx="221285" cy="221285"/>
          </a:xfrm>
          <a:prstGeom prst="rect">
            <a:avLst/>
          </a:prstGeom>
        </p:spPr>
      </p:pic>
      <p:sp>
        <p:nvSpPr>
          <p:cNvPr id="37" name="Text 28"/>
          <p:cNvSpPr txBox="1"/>
          <p:nvPr/>
        </p:nvSpPr>
        <p:spPr>
          <a:xfrm>
            <a:off x="1170432" y="5205222"/>
            <a:ext cx="2446020" cy="292608"/>
          </a:xfrm>
          <a:prstGeom prst="rect">
            <a:avLst/>
          </a:prstGeom>
          <a:noFill/>
          <a:ln/>
        </p:spPr>
        <p:txBody>
          <a:bodyPr wrap="square" lIns="0" tIns="0" rIns="0" bIns="0" rtlCol="0" anchor="t"/>
          <a:lstStyle/>
          <a:p>
            <a:pPr marL="0" indent="0">
              <a:buNone/>
            </a:pPr>
            <a:r>
              <a:rPr lang="en-US" sz="1150" b="1" dirty="0">
                <a:solidFill>
                  <a:srgbClr val="0E2A2C"/>
                </a:solidFill>
                <a:latin typeface="Calibri" pitchFamily="34" charset="0"/>
                <a:ea typeface="Calibri" pitchFamily="34" charset="-122"/>
                <a:cs typeface="Calibri" pitchFamily="34" charset="-120"/>
              </a:rPr>
              <a:t>Reporting</a:t>
            </a:r>
            <a:endParaRPr lang="en-US" sz="1150" dirty="0"/>
          </a:p>
        </p:txBody>
      </p:sp>
      <p:sp>
        <p:nvSpPr>
          <p:cNvPr id="38" name="Text 29"/>
          <p:cNvSpPr txBox="1"/>
          <p:nvPr/>
        </p:nvSpPr>
        <p:spPr>
          <a:xfrm>
            <a:off x="1170432" y="5497830"/>
            <a:ext cx="2446020" cy="674370"/>
          </a:xfrm>
          <a:prstGeom prst="rect">
            <a:avLst/>
          </a:prstGeom>
          <a:noFill/>
          <a:ln/>
        </p:spPr>
        <p:txBody>
          <a:bodyPr wrap="square" lIns="0" tIns="0" rIns="0" bIns="0" rtlCol="0" anchor="t"/>
          <a:lstStyle/>
          <a:p>
            <a:pPr marL="0" indent="0">
              <a:lnSpc>
                <a:spcPct val="105000"/>
              </a:lnSpc>
              <a:buNone/>
            </a:pPr>
            <a:r>
              <a:rPr lang="en-US" sz="950" dirty="0">
                <a:solidFill>
                  <a:srgbClr val="4E6A6C"/>
                </a:solidFill>
                <a:latin typeface="Calibri" pitchFamily="34" charset="0"/>
                <a:ea typeface="Calibri" pitchFamily="34" charset="-122"/>
                <a:cs typeface="Calibri" pitchFamily="34" charset="-120"/>
              </a:rPr>
              <a:t>ReportLab (PDF)</a:t>
            </a:r>
            <a:endParaRPr lang="en-US" sz="950" dirty="0"/>
          </a:p>
        </p:txBody>
      </p:sp>
      <p:sp>
        <p:nvSpPr>
          <p:cNvPr id="39" name="Shape 30"/>
          <p:cNvSpPr/>
          <p:nvPr/>
        </p:nvSpPr>
        <p:spPr>
          <a:xfrm>
            <a:off x="3863340" y="5132070"/>
            <a:ext cx="3177540" cy="1085850"/>
          </a:xfrm>
          <a:prstGeom prst="roundRect">
            <a:avLst>
              <a:gd name="adj" fmla="val 6737"/>
            </a:avLst>
          </a:prstGeom>
          <a:solidFill>
            <a:srgbClr val="FFFFFF"/>
          </a:solidFill>
          <a:ln w="12700">
            <a:solidFill>
              <a:srgbClr val="D9E7E6"/>
            </a:solidFill>
            <a:prstDash val="solid"/>
          </a:ln>
        </p:spPr>
        <p:txBody>
          <a:bodyPr/>
          <a:lstStyle/>
          <a:p>
            <a:endParaRPr lang="en-IN"/>
          </a:p>
        </p:txBody>
      </p:sp>
      <p:sp>
        <p:nvSpPr>
          <p:cNvPr id="40" name="Shape 31"/>
          <p:cNvSpPr/>
          <p:nvPr/>
        </p:nvSpPr>
        <p:spPr>
          <a:xfrm>
            <a:off x="4000500" y="5473827"/>
            <a:ext cx="402336" cy="402336"/>
          </a:xfrm>
          <a:prstGeom prst="ellipse">
            <a:avLst/>
          </a:prstGeom>
          <a:solidFill>
            <a:srgbClr val="00A896"/>
          </a:solidFill>
          <a:ln/>
        </p:spPr>
        <p:txBody>
          <a:bodyPr/>
          <a:lstStyle/>
          <a:p>
            <a:endParaRPr lang="en-IN"/>
          </a:p>
        </p:txBody>
      </p:sp>
      <p:pic>
        <p:nvPicPr>
          <p:cNvPr id="41" name="Image 7" descr="/home/claude/deck/icons/cloud.png"/>
          <p:cNvPicPr>
            <a:picLocks noChangeAspect="1"/>
          </p:cNvPicPr>
          <p:nvPr/>
        </p:nvPicPr>
        <p:blipFill>
          <a:blip r:embed="rId10"/>
          <a:stretch>
            <a:fillRect/>
          </a:stretch>
        </p:blipFill>
        <p:spPr>
          <a:xfrm>
            <a:off x="4091026" y="5564353"/>
            <a:ext cx="221285" cy="221285"/>
          </a:xfrm>
          <a:prstGeom prst="rect">
            <a:avLst/>
          </a:prstGeom>
        </p:spPr>
      </p:pic>
      <p:sp>
        <p:nvSpPr>
          <p:cNvPr id="42" name="Text 32"/>
          <p:cNvSpPr txBox="1"/>
          <p:nvPr/>
        </p:nvSpPr>
        <p:spPr>
          <a:xfrm>
            <a:off x="4485132" y="5205222"/>
            <a:ext cx="2446020" cy="292608"/>
          </a:xfrm>
          <a:prstGeom prst="rect">
            <a:avLst/>
          </a:prstGeom>
          <a:noFill/>
          <a:ln/>
        </p:spPr>
        <p:txBody>
          <a:bodyPr wrap="square" lIns="0" tIns="0" rIns="0" bIns="0" rtlCol="0" anchor="t"/>
          <a:lstStyle/>
          <a:p>
            <a:pPr marL="0" indent="0">
              <a:buNone/>
            </a:pPr>
            <a:r>
              <a:rPr lang="en-US" sz="1150" b="1" dirty="0">
                <a:solidFill>
                  <a:srgbClr val="0E2A2C"/>
                </a:solidFill>
                <a:latin typeface="Calibri" pitchFamily="34" charset="0"/>
                <a:ea typeface="Calibri" pitchFamily="34" charset="-122"/>
                <a:cs typeface="Calibri" pitchFamily="34" charset="-120"/>
              </a:rPr>
              <a:t>Version Control &amp; Hosting</a:t>
            </a:r>
            <a:endParaRPr lang="en-US" sz="1150" dirty="0"/>
          </a:p>
        </p:txBody>
      </p:sp>
      <p:sp>
        <p:nvSpPr>
          <p:cNvPr id="43" name="Text 33"/>
          <p:cNvSpPr txBox="1"/>
          <p:nvPr/>
        </p:nvSpPr>
        <p:spPr>
          <a:xfrm>
            <a:off x="4485132" y="5497830"/>
            <a:ext cx="2446020" cy="674370"/>
          </a:xfrm>
          <a:prstGeom prst="rect">
            <a:avLst/>
          </a:prstGeom>
          <a:noFill/>
          <a:ln/>
        </p:spPr>
        <p:txBody>
          <a:bodyPr wrap="square" lIns="0" tIns="0" rIns="0" bIns="0" rtlCol="0" anchor="t"/>
          <a:lstStyle/>
          <a:p>
            <a:pPr marL="0" indent="0">
              <a:lnSpc>
                <a:spcPct val="105000"/>
              </a:lnSpc>
              <a:buNone/>
            </a:pPr>
            <a:r>
              <a:rPr lang="en-US" sz="950" dirty="0">
                <a:solidFill>
                  <a:srgbClr val="4E6A6C"/>
                </a:solidFill>
                <a:latin typeface="Calibri" pitchFamily="34" charset="0"/>
                <a:ea typeface="Calibri" pitchFamily="34" charset="-122"/>
                <a:cs typeface="Calibri" pitchFamily="34" charset="-120"/>
              </a:rPr>
              <a:t>Git/GitHub, Render (or equivalent)</a:t>
            </a:r>
            <a:endParaRPr lang="en-US" sz="950" dirty="0"/>
          </a:p>
        </p:txBody>
      </p:sp>
      <p:sp>
        <p:nvSpPr>
          <p:cNvPr id="44" name="Shape 34"/>
          <p:cNvSpPr/>
          <p:nvPr/>
        </p:nvSpPr>
        <p:spPr>
          <a:xfrm>
            <a:off x="7269480" y="1463040"/>
            <a:ext cx="4370832" cy="4754880"/>
          </a:xfrm>
          <a:prstGeom prst="roundRect">
            <a:avLst>
              <a:gd name="adj" fmla="val 1674"/>
            </a:avLst>
          </a:prstGeom>
          <a:solidFill>
            <a:srgbClr val="0B3639"/>
          </a:solidFill>
          <a:ln/>
          <a:effectLst>
            <a:outerShdw blurRad="76200" dist="25400" dir="5400000" algn="bl" rotWithShape="0">
              <a:srgbClr val="1B2B2B">
                <a:alpha val="12000"/>
              </a:srgbClr>
            </a:outerShdw>
          </a:effectLst>
        </p:spPr>
        <p:txBody>
          <a:bodyPr/>
          <a:lstStyle/>
          <a:p>
            <a:endParaRPr lang="en-IN"/>
          </a:p>
        </p:txBody>
      </p:sp>
      <p:sp>
        <p:nvSpPr>
          <p:cNvPr id="45" name="Shape 35"/>
          <p:cNvSpPr/>
          <p:nvPr/>
        </p:nvSpPr>
        <p:spPr>
          <a:xfrm>
            <a:off x="7543800" y="1691640"/>
            <a:ext cx="420624" cy="420624"/>
          </a:xfrm>
          <a:prstGeom prst="ellipse">
            <a:avLst/>
          </a:prstGeom>
          <a:solidFill>
            <a:srgbClr val="02C39A"/>
          </a:solidFill>
          <a:ln/>
        </p:spPr>
        <p:txBody>
          <a:bodyPr/>
          <a:lstStyle/>
          <a:p>
            <a:endParaRPr lang="en-IN"/>
          </a:p>
        </p:txBody>
      </p:sp>
      <p:pic>
        <p:nvPicPr>
          <p:cNvPr id="46" name="Image 8" descr="/home/claude/deck/icons/workflow.png"/>
          <p:cNvPicPr>
            <a:picLocks noChangeAspect="1"/>
          </p:cNvPicPr>
          <p:nvPr/>
        </p:nvPicPr>
        <p:blipFill>
          <a:blip r:embed="rId11"/>
          <a:stretch>
            <a:fillRect/>
          </a:stretch>
        </p:blipFill>
        <p:spPr>
          <a:xfrm>
            <a:off x="7638440" y="1786280"/>
            <a:ext cx="231343" cy="231343"/>
          </a:xfrm>
          <a:prstGeom prst="rect">
            <a:avLst/>
          </a:prstGeom>
        </p:spPr>
      </p:pic>
      <p:sp>
        <p:nvSpPr>
          <p:cNvPr id="47" name="Text 36"/>
          <p:cNvSpPr txBox="1"/>
          <p:nvPr/>
        </p:nvSpPr>
        <p:spPr>
          <a:xfrm>
            <a:off x="8074152" y="1691640"/>
            <a:ext cx="3474720" cy="420624"/>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Functional Workflow</a:t>
            </a:r>
            <a:endParaRPr lang="en-US" sz="1350" dirty="0"/>
          </a:p>
        </p:txBody>
      </p:sp>
      <p:sp>
        <p:nvSpPr>
          <p:cNvPr id="48" name="Shape 37"/>
          <p:cNvSpPr/>
          <p:nvPr/>
        </p:nvSpPr>
        <p:spPr>
          <a:xfrm>
            <a:off x="7543800" y="2286000"/>
            <a:ext cx="329184" cy="329184"/>
          </a:xfrm>
          <a:prstGeom prst="ellipse">
            <a:avLst/>
          </a:prstGeom>
          <a:solidFill>
            <a:srgbClr val="02C39A"/>
          </a:solidFill>
          <a:ln/>
        </p:spPr>
        <p:txBody>
          <a:bodyPr/>
          <a:lstStyle/>
          <a:p>
            <a:endParaRPr lang="en-IN"/>
          </a:p>
        </p:txBody>
      </p:sp>
      <p:sp>
        <p:nvSpPr>
          <p:cNvPr id="49" name="Text 38"/>
          <p:cNvSpPr txBox="1"/>
          <p:nvPr/>
        </p:nvSpPr>
        <p:spPr>
          <a:xfrm>
            <a:off x="7543800" y="2286000"/>
            <a:ext cx="329184" cy="329184"/>
          </a:xfrm>
          <a:prstGeom prst="rect">
            <a:avLst/>
          </a:prstGeom>
          <a:noFill/>
          <a:ln/>
        </p:spPr>
        <p:txBody>
          <a:bodyPr wrap="square" lIns="0" tIns="0" rIns="0" bIns="0" rtlCol="0" anchor="ctr"/>
          <a:lstStyle/>
          <a:p>
            <a:pPr marL="0" indent="0" algn="ctr">
              <a:buNone/>
            </a:pPr>
            <a:r>
              <a:rPr lang="en-US" sz="1100" b="1" dirty="0">
                <a:solidFill>
                  <a:srgbClr val="0E2A2C"/>
                </a:solidFill>
                <a:latin typeface="Calibri" pitchFamily="34" charset="0"/>
                <a:ea typeface="Calibri" pitchFamily="34" charset="-122"/>
                <a:cs typeface="Calibri" pitchFamily="34" charset="-120"/>
              </a:rPr>
              <a:t>1</a:t>
            </a:r>
            <a:endParaRPr lang="en-US" sz="1100" dirty="0"/>
          </a:p>
        </p:txBody>
      </p:sp>
      <p:sp>
        <p:nvSpPr>
          <p:cNvPr id="50" name="Text 39"/>
          <p:cNvSpPr txBox="1"/>
          <p:nvPr/>
        </p:nvSpPr>
        <p:spPr>
          <a:xfrm>
            <a:off x="7991856" y="2258568"/>
            <a:ext cx="35204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User logs in (JWT session)</a:t>
            </a:r>
            <a:endParaRPr lang="en-US" sz="1050" dirty="0"/>
          </a:p>
        </p:txBody>
      </p:sp>
      <p:sp>
        <p:nvSpPr>
          <p:cNvPr id="51" name="Shape 40"/>
          <p:cNvSpPr/>
          <p:nvPr/>
        </p:nvSpPr>
        <p:spPr>
          <a:xfrm>
            <a:off x="7543800" y="2770632"/>
            <a:ext cx="329184" cy="329184"/>
          </a:xfrm>
          <a:prstGeom prst="ellipse">
            <a:avLst/>
          </a:prstGeom>
          <a:solidFill>
            <a:srgbClr val="02C39A"/>
          </a:solidFill>
          <a:ln/>
        </p:spPr>
        <p:txBody>
          <a:bodyPr/>
          <a:lstStyle/>
          <a:p>
            <a:endParaRPr lang="en-IN"/>
          </a:p>
        </p:txBody>
      </p:sp>
      <p:sp>
        <p:nvSpPr>
          <p:cNvPr id="52" name="Text 41"/>
          <p:cNvSpPr txBox="1"/>
          <p:nvPr/>
        </p:nvSpPr>
        <p:spPr>
          <a:xfrm>
            <a:off x="7543800" y="2770632"/>
            <a:ext cx="329184" cy="329184"/>
          </a:xfrm>
          <a:prstGeom prst="rect">
            <a:avLst/>
          </a:prstGeom>
          <a:noFill/>
          <a:ln/>
        </p:spPr>
        <p:txBody>
          <a:bodyPr wrap="square" lIns="0" tIns="0" rIns="0" bIns="0" rtlCol="0" anchor="ctr"/>
          <a:lstStyle/>
          <a:p>
            <a:pPr marL="0" indent="0" algn="ctr">
              <a:buNone/>
            </a:pPr>
            <a:r>
              <a:rPr lang="en-US" sz="1100" b="1" dirty="0">
                <a:solidFill>
                  <a:srgbClr val="0E2A2C"/>
                </a:solidFill>
                <a:latin typeface="Calibri" pitchFamily="34" charset="0"/>
                <a:ea typeface="Calibri" pitchFamily="34" charset="-122"/>
                <a:cs typeface="Calibri" pitchFamily="34" charset="-120"/>
              </a:rPr>
              <a:t>2</a:t>
            </a:r>
            <a:endParaRPr lang="en-US" sz="1100" dirty="0"/>
          </a:p>
        </p:txBody>
      </p:sp>
      <p:sp>
        <p:nvSpPr>
          <p:cNvPr id="53" name="Text 42"/>
          <p:cNvSpPr txBox="1"/>
          <p:nvPr/>
        </p:nvSpPr>
        <p:spPr>
          <a:xfrm>
            <a:off x="7991856" y="2743200"/>
            <a:ext cx="35204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Select or create a patient</a:t>
            </a:r>
            <a:endParaRPr lang="en-US" sz="1050" dirty="0"/>
          </a:p>
        </p:txBody>
      </p:sp>
      <p:sp>
        <p:nvSpPr>
          <p:cNvPr id="54" name="Shape 43"/>
          <p:cNvSpPr/>
          <p:nvPr/>
        </p:nvSpPr>
        <p:spPr>
          <a:xfrm>
            <a:off x="7543800" y="3255264"/>
            <a:ext cx="329184" cy="329184"/>
          </a:xfrm>
          <a:prstGeom prst="ellipse">
            <a:avLst/>
          </a:prstGeom>
          <a:solidFill>
            <a:srgbClr val="02C39A"/>
          </a:solidFill>
          <a:ln/>
        </p:spPr>
        <p:txBody>
          <a:bodyPr/>
          <a:lstStyle/>
          <a:p>
            <a:endParaRPr lang="en-IN"/>
          </a:p>
        </p:txBody>
      </p:sp>
      <p:sp>
        <p:nvSpPr>
          <p:cNvPr id="55" name="Text 44"/>
          <p:cNvSpPr txBox="1"/>
          <p:nvPr/>
        </p:nvSpPr>
        <p:spPr>
          <a:xfrm>
            <a:off x="7543800" y="3255264"/>
            <a:ext cx="329184" cy="329184"/>
          </a:xfrm>
          <a:prstGeom prst="rect">
            <a:avLst/>
          </a:prstGeom>
          <a:noFill/>
          <a:ln/>
        </p:spPr>
        <p:txBody>
          <a:bodyPr wrap="square" lIns="0" tIns="0" rIns="0" bIns="0" rtlCol="0" anchor="ctr"/>
          <a:lstStyle/>
          <a:p>
            <a:pPr marL="0" indent="0" algn="ctr">
              <a:buNone/>
            </a:pPr>
            <a:r>
              <a:rPr lang="en-US" sz="1100" b="1" dirty="0">
                <a:solidFill>
                  <a:srgbClr val="0E2A2C"/>
                </a:solidFill>
                <a:latin typeface="Calibri" pitchFamily="34" charset="0"/>
                <a:ea typeface="Calibri" pitchFamily="34" charset="-122"/>
                <a:cs typeface="Calibri" pitchFamily="34" charset="-120"/>
              </a:rPr>
              <a:t>3</a:t>
            </a:r>
            <a:endParaRPr lang="en-US" sz="1100" dirty="0"/>
          </a:p>
        </p:txBody>
      </p:sp>
      <p:sp>
        <p:nvSpPr>
          <p:cNvPr id="56" name="Text 45"/>
          <p:cNvSpPr txBox="1"/>
          <p:nvPr/>
        </p:nvSpPr>
        <p:spPr>
          <a:xfrm>
            <a:off x="7991856" y="3227832"/>
            <a:ext cx="35204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Start a new CTG assessment</a:t>
            </a:r>
            <a:endParaRPr lang="en-US" sz="1050" dirty="0"/>
          </a:p>
        </p:txBody>
      </p:sp>
      <p:sp>
        <p:nvSpPr>
          <p:cNvPr id="57" name="Shape 46"/>
          <p:cNvSpPr/>
          <p:nvPr/>
        </p:nvSpPr>
        <p:spPr>
          <a:xfrm>
            <a:off x="7543800" y="3739896"/>
            <a:ext cx="329184" cy="329184"/>
          </a:xfrm>
          <a:prstGeom prst="ellipse">
            <a:avLst/>
          </a:prstGeom>
          <a:solidFill>
            <a:srgbClr val="02C39A"/>
          </a:solidFill>
          <a:ln/>
        </p:spPr>
        <p:txBody>
          <a:bodyPr/>
          <a:lstStyle/>
          <a:p>
            <a:endParaRPr lang="en-IN"/>
          </a:p>
        </p:txBody>
      </p:sp>
      <p:sp>
        <p:nvSpPr>
          <p:cNvPr id="58" name="Text 47"/>
          <p:cNvSpPr txBox="1"/>
          <p:nvPr/>
        </p:nvSpPr>
        <p:spPr>
          <a:xfrm>
            <a:off x="7543800" y="3739896"/>
            <a:ext cx="329184" cy="329184"/>
          </a:xfrm>
          <a:prstGeom prst="rect">
            <a:avLst/>
          </a:prstGeom>
          <a:noFill/>
          <a:ln/>
        </p:spPr>
        <p:txBody>
          <a:bodyPr wrap="square" lIns="0" tIns="0" rIns="0" bIns="0" rtlCol="0" anchor="ctr"/>
          <a:lstStyle/>
          <a:p>
            <a:pPr marL="0" indent="0" algn="ctr">
              <a:buNone/>
            </a:pPr>
            <a:r>
              <a:rPr lang="en-US" sz="1100" b="1" dirty="0">
                <a:solidFill>
                  <a:srgbClr val="0E2A2C"/>
                </a:solidFill>
                <a:latin typeface="Calibri" pitchFamily="34" charset="0"/>
                <a:ea typeface="Calibri" pitchFamily="34" charset="-122"/>
                <a:cs typeface="Calibri" pitchFamily="34" charset="-120"/>
              </a:rPr>
              <a:t>4</a:t>
            </a:r>
            <a:endParaRPr lang="en-US" sz="1100" dirty="0"/>
          </a:p>
        </p:txBody>
      </p:sp>
      <p:sp>
        <p:nvSpPr>
          <p:cNvPr id="59" name="Text 48"/>
          <p:cNvSpPr txBox="1"/>
          <p:nvPr/>
        </p:nvSpPr>
        <p:spPr>
          <a:xfrm>
            <a:off x="7991856" y="3712464"/>
            <a:ext cx="35204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Frontend validates &amp; sends data to FastAPI</a:t>
            </a:r>
            <a:endParaRPr lang="en-US" sz="1050" dirty="0"/>
          </a:p>
        </p:txBody>
      </p:sp>
      <p:sp>
        <p:nvSpPr>
          <p:cNvPr id="60" name="Shape 49"/>
          <p:cNvSpPr/>
          <p:nvPr/>
        </p:nvSpPr>
        <p:spPr>
          <a:xfrm>
            <a:off x="7543800" y="4224528"/>
            <a:ext cx="329184" cy="329184"/>
          </a:xfrm>
          <a:prstGeom prst="ellipse">
            <a:avLst/>
          </a:prstGeom>
          <a:solidFill>
            <a:srgbClr val="02C39A"/>
          </a:solidFill>
          <a:ln/>
        </p:spPr>
        <p:txBody>
          <a:bodyPr/>
          <a:lstStyle/>
          <a:p>
            <a:endParaRPr lang="en-IN"/>
          </a:p>
        </p:txBody>
      </p:sp>
      <p:sp>
        <p:nvSpPr>
          <p:cNvPr id="61" name="Text 50"/>
          <p:cNvSpPr txBox="1"/>
          <p:nvPr/>
        </p:nvSpPr>
        <p:spPr>
          <a:xfrm>
            <a:off x="7543800" y="4224528"/>
            <a:ext cx="329184" cy="329184"/>
          </a:xfrm>
          <a:prstGeom prst="rect">
            <a:avLst/>
          </a:prstGeom>
          <a:noFill/>
          <a:ln/>
        </p:spPr>
        <p:txBody>
          <a:bodyPr wrap="square" lIns="0" tIns="0" rIns="0" bIns="0" rtlCol="0" anchor="ctr"/>
          <a:lstStyle/>
          <a:p>
            <a:pPr marL="0" indent="0" algn="ctr">
              <a:buNone/>
            </a:pPr>
            <a:r>
              <a:rPr lang="en-US" sz="1100" b="1" dirty="0">
                <a:solidFill>
                  <a:srgbClr val="0E2A2C"/>
                </a:solidFill>
                <a:latin typeface="Calibri" pitchFamily="34" charset="0"/>
                <a:ea typeface="Calibri" pitchFamily="34" charset="-122"/>
                <a:cs typeface="Calibri" pitchFamily="34" charset="-120"/>
              </a:rPr>
              <a:t>5</a:t>
            </a:r>
            <a:endParaRPr lang="en-US" sz="1100" dirty="0"/>
          </a:p>
        </p:txBody>
      </p:sp>
      <p:sp>
        <p:nvSpPr>
          <p:cNvPr id="62" name="Text 51"/>
          <p:cNvSpPr txBox="1"/>
          <p:nvPr/>
        </p:nvSpPr>
        <p:spPr>
          <a:xfrm>
            <a:off x="7991856" y="4197096"/>
            <a:ext cx="35204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FastAPI preprocesses &amp; runs the ML model</a:t>
            </a:r>
            <a:endParaRPr lang="en-US" sz="1050" dirty="0"/>
          </a:p>
        </p:txBody>
      </p:sp>
      <p:sp>
        <p:nvSpPr>
          <p:cNvPr id="63" name="Shape 52"/>
          <p:cNvSpPr/>
          <p:nvPr/>
        </p:nvSpPr>
        <p:spPr>
          <a:xfrm>
            <a:off x="7543800" y="4709160"/>
            <a:ext cx="329184" cy="329184"/>
          </a:xfrm>
          <a:prstGeom prst="ellipse">
            <a:avLst/>
          </a:prstGeom>
          <a:solidFill>
            <a:srgbClr val="02C39A"/>
          </a:solidFill>
          <a:ln/>
        </p:spPr>
        <p:txBody>
          <a:bodyPr/>
          <a:lstStyle/>
          <a:p>
            <a:endParaRPr lang="en-IN"/>
          </a:p>
        </p:txBody>
      </p:sp>
      <p:sp>
        <p:nvSpPr>
          <p:cNvPr id="64" name="Text 53"/>
          <p:cNvSpPr txBox="1"/>
          <p:nvPr/>
        </p:nvSpPr>
        <p:spPr>
          <a:xfrm>
            <a:off x="7543800" y="4709160"/>
            <a:ext cx="329184" cy="329184"/>
          </a:xfrm>
          <a:prstGeom prst="rect">
            <a:avLst/>
          </a:prstGeom>
          <a:noFill/>
          <a:ln/>
        </p:spPr>
        <p:txBody>
          <a:bodyPr wrap="square" lIns="0" tIns="0" rIns="0" bIns="0" rtlCol="0" anchor="ctr"/>
          <a:lstStyle/>
          <a:p>
            <a:pPr marL="0" indent="0" algn="ctr">
              <a:buNone/>
            </a:pPr>
            <a:r>
              <a:rPr lang="en-US" sz="1100" b="1" dirty="0">
                <a:solidFill>
                  <a:srgbClr val="0E2A2C"/>
                </a:solidFill>
                <a:latin typeface="Calibri" pitchFamily="34" charset="0"/>
                <a:ea typeface="Calibri" pitchFamily="34" charset="-122"/>
                <a:cs typeface="Calibri" pitchFamily="34" charset="-120"/>
              </a:rPr>
              <a:t>6</a:t>
            </a:r>
            <a:endParaRPr lang="en-US" sz="1100" dirty="0"/>
          </a:p>
        </p:txBody>
      </p:sp>
      <p:sp>
        <p:nvSpPr>
          <p:cNvPr id="65" name="Text 54"/>
          <p:cNvSpPr txBox="1"/>
          <p:nvPr/>
        </p:nvSpPr>
        <p:spPr>
          <a:xfrm>
            <a:off x="7991856" y="4681728"/>
            <a:ext cx="35204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Result stored; Gemini explains it on request</a:t>
            </a:r>
            <a:endParaRPr lang="en-US" sz="1050" dirty="0"/>
          </a:p>
        </p:txBody>
      </p:sp>
      <p:sp>
        <p:nvSpPr>
          <p:cNvPr id="66" name="Shape 55"/>
          <p:cNvSpPr/>
          <p:nvPr/>
        </p:nvSpPr>
        <p:spPr>
          <a:xfrm>
            <a:off x="7543800" y="5193792"/>
            <a:ext cx="329184" cy="329184"/>
          </a:xfrm>
          <a:prstGeom prst="ellipse">
            <a:avLst/>
          </a:prstGeom>
          <a:solidFill>
            <a:srgbClr val="02C39A"/>
          </a:solidFill>
          <a:ln/>
        </p:spPr>
        <p:txBody>
          <a:bodyPr/>
          <a:lstStyle/>
          <a:p>
            <a:endParaRPr lang="en-IN"/>
          </a:p>
        </p:txBody>
      </p:sp>
      <p:sp>
        <p:nvSpPr>
          <p:cNvPr id="67" name="Text 56"/>
          <p:cNvSpPr txBox="1"/>
          <p:nvPr/>
        </p:nvSpPr>
        <p:spPr>
          <a:xfrm>
            <a:off x="7543800" y="5193792"/>
            <a:ext cx="329184" cy="329184"/>
          </a:xfrm>
          <a:prstGeom prst="rect">
            <a:avLst/>
          </a:prstGeom>
          <a:noFill/>
          <a:ln/>
        </p:spPr>
        <p:txBody>
          <a:bodyPr wrap="square" lIns="0" tIns="0" rIns="0" bIns="0" rtlCol="0" anchor="ctr"/>
          <a:lstStyle/>
          <a:p>
            <a:pPr marL="0" indent="0" algn="ctr">
              <a:buNone/>
            </a:pPr>
            <a:r>
              <a:rPr lang="en-US" sz="1100" b="1" dirty="0">
                <a:solidFill>
                  <a:srgbClr val="0E2A2C"/>
                </a:solidFill>
                <a:latin typeface="Calibri" pitchFamily="34" charset="0"/>
                <a:ea typeface="Calibri" pitchFamily="34" charset="-122"/>
                <a:cs typeface="Calibri" pitchFamily="34" charset="-120"/>
              </a:rPr>
              <a:t>7</a:t>
            </a:r>
            <a:endParaRPr lang="en-US" sz="1100" dirty="0"/>
          </a:p>
        </p:txBody>
      </p:sp>
      <p:sp>
        <p:nvSpPr>
          <p:cNvPr id="68" name="Text 57"/>
          <p:cNvSpPr txBox="1"/>
          <p:nvPr/>
        </p:nvSpPr>
        <p:spPr>
          <a:xfrm>
            <a:off x="7991856" y="5166360"/>
            <a:ext cx="35204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View result, history, or download PDF report</a:t>
            </a:r>
            <a:endParaRPr lang="en-US" sz="1050" dirty="0"/>
          </a:p>
        </p:txBody>
      </p:sp>
      <p:sp>
        <p:nvSpPr>
          <p:cNvPr id="70" name="Text 58"/>
          <p:cNvSpPr txBox="1"/>
          <p:nvPr/>
        </p:nvSpPr>
        <p:spPr>
          <a:xfrm>
            <a:off x="11548872" y="6473952"/>
            <a:ext cx="365760" cy="274320"/>
          </a:xfrm>
          <a:prstGeom prst="rect">
            <a:avLst/>
          </a:prstGeom>
          <a:noFill/>
          <a:ln/>
        </p:spPr>
        <p:txBody>
          <a:bodyPr wrap="square" lIns="0" tIns="0" rIns="0" bIns="0" rtlCol="0" anchor="ctr"/>
          <a:lstStyle/>
          <a:p>
            <a:pPr marL="0" indent="0" algn="r">
              <a:buNone/>
            </a:pPr>
            <a:r>
              <a:rPr lang="en-US" sz="1000" dirty="0">
                <a:solidFill>
                  <a:srgbClr val="4E6A6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AF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85800"/>
          </a:xfrm>
          <a:prstGeom prst="rect">
            <a:avLst/>
          </a:prstGeom>
          <a:noFill/>
          <a:ln/>
        </p:spPr>
        <p:txBody>
          <a:bodyPr wrap="square" lIns="0" tIns="0" rIns="0" bIns="0" rtlCol="0" anchor="ctr"/>
          <a:lstStyle/>
          <a:p>
            <a:pPr marL="0" indent="0" algn="l">
              <a:buNone/>
            </a:pPr>
            <a:r>
              <a:rPr lang="en-US" sz="3000" b="1" dirty="0">
                <a:solidFill>
                  <a:srgbClr val="0E2A2C"/>
                </a:solidFill>
                <a:latin typeface="Cambria" pitchFamily="34" charset="0"/>
                <a:ea typeface="Cambria" pitchFamily="34" charset="-122"/>
                <a:cs typeface="Cambria" pitchFamily="34" charset="-120"/>
              </a:rPr>
              <a:t>Application Demo — Walkthrough</a:t>
            </a:r>
            <a:endParaRPr lang="en-US" sz="3000" dirty="0"/>
          </a:p>
        </p:txBody>
      </p:sp>
      <p:sp>
        <p:nvSpPr>
          <p:cNvPr id="3" name="Text 1"/>
          <p:cNvSpPr txBox="1"/>
          <p:nvPr/>
        </p:nvSpPr>
        <p:spPr>
          <a:xfrm>
            <a:off x="548640" y="987552"/>
            <a:ext cx="11091672" cy="365760"/>
          </a:xfrm>
          <a:prstGeom prst="rect">
            <a:avLst/>
          </a:prstGeom>
          <a:noFill/>
          <a:ln/>
        </p:spPr>
        <p:txBody>
          <a:bodyPr wrap="square" lIns="0" tIns="0" rIns="0" bIns="0" rtlCol="0" anchor="ctr"/>
          <a:lstStyle/>
          <a:p>
            <a:pPr marL="0" indent="0" algn="l">
              <a:buNone/>
            </a:pPr>
            <a:r>
              <a:rPr lang="en-US" sz="1300" i="1" dirty="0">
                <a:solidFill>
                  <a:srgbClr val="4E6A6C"/>
                </a:solidFill>
                <a:latin typeface="Calibri" pitchFamily="34" charset="0"/>
                <a:ea typeface="Calibri" pitchFamily="34" charset="-122"/>
                <a:cs typeface="Calibri" pitchFamily="34" charset="-120"/>
              </a:rPr>
              <a:t>FetalCare telemetry console: clinician sign-in, ward dashboard, and the CTG assessment form</a:t>
            </a:r>
            <a:endParaRPr lang="en-US" sz="1300" dirty="0"/>
          </a:p>
        </p:txBody>
      </p:sp>
      <p:sp>
        <p:nvSpPr>
          <p:cNvPr id="4" name="Shape 2"/>
          <p:cNvSpPr/>
          <p:nvPr/>
        </p:nvSpPr>
        <p:spPr>
          <a:xfrm>
            <a:off x="493776" y="1796628"/>
            <a:ext cx="3636264" cy="2321284"/>
          </a:xfrm>
          <a:prstGeom prst="roundRect">
            <a:avLst>
              <a:gd name="adj" fmla="val 2364"/>
            </a:avLst>
          </a:prstGeom>
          <a:solidFill>
            <a:srgbClr val="0E1F21"/>
          </a:solidFill>
          <a:ln w="12700">
            <a:solidFill>
              <a:srgbClr val="D9E7E6"/>
            </a:solidFill>
            <a:prstDash val="solid"/>
          </a:ln>
          <a:effectLst>
            <a:outerShdw blurRad="101600" dist="38100" dir="5400000" algn="bl" rotWithShape="0">
              <a:srgbClr val="1B2B2B">
                <a:alpha val="18000"/>
              </a:srgbClr>
            </a:outerShdw>
          </a:effectLst>
        </p:spPr>
        <p:txBody>
          <a:bodyPr/>
          <a:lstStyle/>
          <a:p>
            <a:endParaRPr lang="en-IN"/>
          </a:p>
        </p:txBody>
      </p:sp>
      <p:pic>
        <p:nvPicPr>
          <p:cNvPr id="5" name="Image 0" descr="/home/claude/deck/screens/landing.jpeg"/>
          <p:cNvPicPr>
            <a:picLocks noChangeAspect="1"/>
          </p:cNvPicPr>
          <p:nvPr/>
        </p:nvPicPr>
        <p:blipFill>
          <a:blip r:embed="rId3"/>
          <a:stretch>
            <a:fillRect/>
          </a:stretch>
        </p:blipFill>
        <p:spPr>
          <a:xfrm>
            <a:off x="548640" y="1851492"/>
            <a:ext cx="3526536" cy="2211556"/>
          </a:xfrm>
          <a:prstGeom prst="rect">
            <a:avLst/>
          </a:prstGeom>
        </p:spPr>
      </p:pic>
      <p:sp>
        <p:nvSpPr>
          <p:cNvPr id="6" name="Text 3"/>
          <p:cNvSpPr txBox="1"/>
          <p:nvPr/>
        </p:nvSpPr>
        <p:spPr>
          <a:xfrm>
            <a:off x="548640" y="4227641"/>
            <a:ext cx="3526536" cy="365760"/>
          </a:xfrm>
          <a:prstGeom prst="rect">
            <a:avLst/>
          </a:prstGeom>
          <a:noFill/>
          <a:ln/>
        </p:spPr>
        <p:txBody>
          <a:bodyPr wrap="square" lIns="0" tIns="0" rIns="0" bIns="0" rtlCol="0" anchor="ctr"/>
          <a:lstStyle/>
          <a:p>
            <a:pPr marL="0" indent="0" algn="ctr">
              <a:buNone/>
            </a:pPr>
            <a:r>
              <a:rPr lang="en-US" sz="1250" b="1" dirty="0">
                <a:solidFill>
                  <a:srgbClr val="028090"/>
                </a:solidFill>
                <a:latin typeface="Calibri" pitchFamily="34" charset="0"/>
                <a:ea typeface="Calibri" pitchFamily="34" charset="-122"/>
                <a:cs typeface="Calibri" pitchFamily="34" charset="-120"/>
              </a:rPr>
              <a:t>Clinician Sign In</a:t>
            </a:r>
            <a:endParaRPr lang="en-US" sz="1250" dirty="0"/>
          </a:p>
        </p:txBody>
      </p:sp>
      <p:sp>
        <p:nvSpPr>
          <p:cNvPr id="7" name="Shape 4"/>
          <p:cNvSpPr/>
          <p:nvPr/>
        </p:nvSpPr>
        <p:spPr>
          <a:xfrm>
            <a:off x="4276344" y="1755610"/>
            <a:ext cx="3636264" cy="2362303"/>
          </a:xfrm>
          <a:prstGeom prst="roundRect">
            <a:avLst>
              <a:gd name="adj" fmla="val 2322"/>
            </a:avLst>
          </a:prstGeom>
          <a:solidFill>
            <a:srgbClr val="0E1F21"/>
          </a:solidFill>
          <a:ln w="12700">
            <a:solidFill>
              <a:srgbClr val="D9E7E6"/>
            </a:solidFill>
            <a:prstDash val="solid"/>
          </a:ln>
          <a:effectLst>
            <a:outerShdw blurRad="101600" dist="38100" dir="5400000" algn="bl" rotWithShape="0">
              <a:srgbClr val="1B2B2B">
                <a:alpha val="18000"/>
              </a:srgbClr>
            </a:outerShdw>
          </a:effectLst>
        </p:spPr>
        <p:txBody>
          <a:bodyPr/>
          <a:lstStyle/>
          <a:p>
            <a:endParaRPr lang="en-IN"/>
          </a:p>
        </p:txBody>
      </p:sp>
      <p:pic>
        <p:nvPicPr>
          <p:cNvPr id="8" name="Image 1" descr="/home/claude/deck/screens/dashboard.jpeg"/>
          <p:cNvPicPr>
            <a:picLocks noChangeAspect="1"/>
          </p:cNvPicPr>
          <p:nvPr/>
        </p:nvPicPr>
        <p:blipFill>
          <a:blip r:embed="rId4"/>
          <a:stretch>
            <a:fillRect/>
          </a:stretch>
        </p:blipFill>
        <p:spPr>
          <a:xfrm>
            <a:off x="4331208" y="1810474"/>
            <a:ext cx="3526536" cy="2252575"/>
          </a:xfrm>
          <a:prstGeom prst="rect">
            <a:avLst/>
          </a:prstGeom>
        </p:spPr>
      </p:pic>
      <p:sp>
        <p:nvSpPr>
          <p:cNvPr id="9" name="Text 5"/>
          <p:cNvSpPr txBox="1"/>
          <p:nvPr/>
        </p:nvSpPr>
        <p:spPr>
          <a:xfrm>
            <a:off x="4331208" y="4227641"/>
            <a:ext cx="3526536" cy="365760"/>
          </a:xfrm>
          <a:prstGeom prst="rect">
            <a:avLst/>
          </a:prstGeom>
          <a:noFill/>
          <a:ln/>
        </p:spPr>
        <p:txBody>
          <a:bodyPr wrap="square" lIns="0" tIns="0" rIns="0" bIns="0" rtlCol="0" anchor="ctr"/>
          <a:lstStyle/>
          <a:p>
            <a:pPr marL="0" indent="0" algn="ctr">
              <a:buNone/>
            </a:pPr>
            <a:r>
              <a:rPr lang="en-US" sz="1250" b="1" dirty="0">
                <a:solidFill>
                  <a:srgbClr val="028090"/>
                </a:solidFill>
                <a:latin typeface="Calibri" pitchFamily="34" charset="0"/>
                <a:ea typeface="Calibri" pitchFamily="34" charset="-122"/>
                <a:cs typeface="Calibri" pitchFamily="34" charset="-120"/>
              </a:rPr>
              <a:t>Surveillance Overview</a:t>
            </a:r>
            <a:endParaRPr lang="en-US" sz="1250" dirty="0"/>
          </a:p>
        </p:txBody>
      </p:sp>
      <p:sp>
        <p:nvSpPr>
          <p:cNvPr id="10" name="Shape 6"/>
          <p:cNvSpPr/>
          <p:nvPr/>
        </p:nvSpPr>
        <p:spPr>
          <a:xfrm>
            <a:off x="8058912" y="1636776"/>
            <a:ext cx="3636264" cy="2481137"/>
          </a:xfrm>
          <a:prstGeom prst="roundRect">
            <a:avLst>
              <a:gd name="adj" fmla="val 2211"/>
            </a:avLst>
          </a:prstGeom>
          <a:solidFill>
            <a:srgbClr val="0E1F21"/>
          </a:solidFill>
          <a:ln w="12700">
            <a:solidFill>
              <a:srgbClr val="D9E7E6"/>
            </a:solidFill>
            <a:prstDash val="solid"/>
          </a:ln>
          <a:effectLst>
            <a:outerShdw blurRad="101600" dist="38100" dir="5400000" algn="bl" rotWithShape="0">
              <a:srgbClr val="1B2B2B">
                <a:alpha val="18000"/>
              </a:srgbClr>
            </a:outerShdw>
          </a:effectLst>
        </p:spPr>
        <p:txBody>
          <a:bodyPr/>
          <a:lstStyle/>
          <a:p>
            <a:endParaRPr lang="en-IN"/>
          </a:p>
        </p:txBody>
      </p:sp>
      <p:pic>
        <p:nvPicPr>
          <p:cNvPr id="11" name="Image 2" descr="/home/claude/deck/screens/ctgform.jpeg"/>
          <p:cNvPicPr>
            <a:picLocks noChangeAspect="1"/>
          </p:cNvPicPr>
          <p:nvPr/>
        </p:nvPicPr>
        <p:blipFill>
          <a:blip r:embed="rId5"/>
          <a:stretch>
            <a:fillRect/>
          </a:stretch>
        </p:blipFill>
        <p:spPr>
          <a:xfrm>
            <a:off x="8113776" y="1691640"/>
            <a:ext cx="3526536" cy="2371409"/>
          </a:xfrm>
          <a:prstGeom prst="rect">
            <a:avLst/>
          </a:prstGeom>
        </p:spPr>
      </p:pic>
      <p:sp>
        <p:nvSpPr>
          <p:cNvPr id="12" name="Text 7"/>
          <p:cNvSpPr txBox="1"/>
          <p:nvPr/>
        </p:nvSpPr>
        <p:spPr>
          <a:xfrm>
            <a:off x="8113776" y="4227641"/>
            <a:ext cx="3526536" cy="365760"/>
          </a:xfrm>
          <a:prstGeom prst="rect">
            <a:avLst/>
          </a:prstGeom>
          <a:noFill/>
          <a:ln/>
        </p:spPr>
        <p:txBody>
          <a:bodyPr wrap="square" lIns="0" tIns="0" rIns="0" bIns="0" rtlCol="0" anchor="ctr"/>
          <a:lstStyle/>
          <a:p>
            <a:pPr marL="0" indent="0" algn="ctr">
              <a:buNone/>
            </a:pPr>
            <a:r>
              <a:rPr lang="en-US" sz="1250" b="1" dirty="0">
                <a:solidFill>
                  <a:srgbClr val="028090"/>
                </a:solidFill>
                <a:latin typeface="Calibri" pitchFamily="34" charset="0"/>
                <a:ea typeface="Calibri" pitchFamily="34" charset="-122"/>
                <a:cs typeface="Calibri" pitchFamily="34" charset="-120"/>
              </a:rPr>
              <a:t>CTG Risk Assessment Form</a:t>
            </a:r>
            <a:endParaRPr lang="en-US" sz="1250" dirty="0"/>
          </a:p>
        </p:txBody>
      </p:sp>
      <p:sp>
        <p:nvSpPr>
          <p:cNvPr id="13" name="Text 8"/>
          <p:cNvSpPr txBox="1"/>
          <p:nvPr/>
        </p:nvSpPr>
        <p:spPr>
          <a:xfrm>
            <a:off x="548640" y="4730561"/>
            <a:ext cx="11091672" cy="457200"/>
          </a:xfrm>
          <a:prstGeom prst="rect">
            <a:avLst/>
          </a:prstGeom>
          <a:noFill/>
          <a:ln/>
        </p:spPr>
        <p:txBody>
          <a:bodyPr wrap="square" lIns="0" tIns="0" rIns="0" bIns="0" rtlCol="0" anchor="ctr"/>
          <a:lstStyle/>
          <a:p>
            <a:pPr marL="0" indent="0" algn="ctr">
              <a:buNone/>
            </a:pPr>
            <a:r>
              <a:rPr lang="en-US" sz="1150" i="1" dirty="0">
                <a:solidFill>
                  <a:srgbClr val="4E6A6C"/>
                </a:solidFill>
                <a:latin typeface="Calibri" pitchFamily="34" charset="0"/>
                <a:ea typeface="Calibri" pitchFamily="34" charset="-122"/>
                <a:cs typeface="Calibri" pitchFamily="34" charset="-120"/>
              </a:rPr>
              <a:t>Authenticated clinicians sign in, land on a ward-level dashboard of assessment acuity, then open the 21-parameter CTG form to run a new fetal health assessment.</a:t>
            </a:r>
            <a:endParaRPr lang="en-US" sz="1150" dirty="0"/>
          </a:p>
        </p:txBody>
      </p:sp>
      <p:sp>
        <p:nvSpPr>
          <p:cNvPr id="15" name="Text 9"/>
          <p:cNvSpPr txBox="1"/>
          <p:nvPr/>
        </p:nvSpPr>
        <p:spPr>
          <a:xfrm>
            <a:off x="11548872" y="6473952"/>
            <a:ext cx="365760" cy="274320"/>
          </a:xfrm>
          <a:prstGeom prst="rect">
            <a:avLst/>
          </a:prstGeom>
          <a:noFill/>
          <a:ln/>
        </p:spPr>
        <p:txBody>
          <a:bodyPr wrap="square" lIns="0" tIns="0" rIns="0" bIns="0" rtlCol="0" anchor="ctr"/>
          <a:lstStyle/>
          <a:p>
            <a:pPr marL="0" indent="0" algn="r">
              <a:buNone/>
            </a:pPr>
            <a:r>
              <a:rPr lang="en-US" sz="1000" dirty="0">
                <a:solidFill>
                  <a:srgbClr val="4E6A6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AF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85800"/>
          </a:xfrm>
          <a:prstGeom prst="rect">
            <a:avLst/>
          </a:prstGeom>
          <a:noFill/>
          <a:ln/>
        </p:spPr>
        <p:txBody>
          <a:bodyPr wrap="square" lIns="0" tIns="0" rIns="0" bIns="0" rtlCol="0" anchor="ctr"/>
          <a:lstStyle/>
          <a:p>
            <a:pPr marL="0" indent="0" algn="l">
              <a:buNone/>
            </a:pPr>
            <a:r>
              <a:rPr lang="en-US" sz="3000" b="1" dirty="0">
                <a:solidFill>
                  <a:srgbClr val="0E2A2C"/>
                </a:solidFill>
                <a:latin typeface="Cambria" pitchFamily="34" charset="0"/>
                <a:ea typeface="Cambria" pitchFamily="34" charset="-122"/>
                <a:cs typeface="Cambria" pitchFamily="34" charset="-120"/>
              </a:rPr>
              <a:t>Application Demo — AI Output</a:t>
            </a:r>
            <a:endParaRPr lang="en-US" sz="3000" dirty="0"/>
          </a:p>
        </p:txBody>
      </p:sp>
      <p:sp>
        <p:nvSpPr>
          <p:cNvPr id="3" name="Text 1"/>
          <p:cNvSpPr txBox="1"/>
          <p:nvPr/>
        </p:nvSpPr>
        <p:spPr>
          <a:xfrm>
            <a:off x="548640" y="987552"/>
            <a:ext cx="11091672" cy="365760"/>
          </a:xfrm>
          <a:prstGeom prst="rect">
            <a:avLst/>
          </a:prstGeom>
          <a:noFill/>
          <a:ln/>
        </p:spPr>
        <p:txBody>
          <a:bodyPr wrap="square" lIns="0" tIns="0" rIns="0" bIns="0" rtlCol="0" anchor="ctr"/>
          <a:lstStyle/>
          <a:p>
            <a:pPr marL="0" indent="0" algn="l">
              <a:buNone/>
            </a:pPr>
            <a:r>
              <a:rPr lang="en-US" sz="1300" i="1" dirty="0">
                <a:solidFill>
                  <a:srgbClr val="4E6A6C"/>
                </a:solidFill>
                <a:latin typeface="Calibri" pitchFamily="34" charset="0"/>
                <a:ea typeface="Calibri" pitchFamily="34" charset="-122"/>
                <a:cs typeface="Calibri" pitchFamily="34" charset="-120"/>
              </a:rPr>
              <a:t>From the trained model's classification to a Gemini-generated clinical explanation</a:t>
            </a:r>
            <a:endParaRPr lang="en-US" sz="1300" dirty="0"/>
          </a:p>
        </p:txBody>
      </p:sp>
      <p:sp>
        <p:nvSpPr>
          <p:cNvPr id="4" name="Shape 2"/>
          <p:cNvSpPr/>
          <p:nvPr/>
        </p:nvSpPr>
        <p:spPr>
          <a:xfrm>
            <a:off x="493776" y="2720338"/>
            <a:ext cx="5527548" cy="2442777"/>
          </a:xfrm>
          <a:prstGeom prst="roundRect">
            <a:avLst>
              <a:gd name="adj" fmla="val 2246"/>
            </a:avLst>
          </a:prstGeom>
          <a:solidFill>
            <a:srgbClr val="0E1F21"/>
          </a:solidFill>
          <a:ln w="12700">
            <a:solidFill>
              <a:srgbClr val="D9E7E6"/>
            </a:solidFill>
            <a:prstDash val="solid"/>
          </a:ln>
          <a:effectLst>
            <a:outerShdw blurRad="101600" dist="38100" dir="5400000" algn="bl" rotWithShape="0">
              <a:srgbClr val="1B2B2B">
                <a:alpha val="18000"/>
              </a:srgbClr>
            </a:outerShdw>
          </a:effectLst>
        </p:spPr>
        <p:txBody>
          <a:bodyPr/>
          <a:lstStyle/>
          <a:p>
            <a:endParaRPr lang="en-IN"/>
          </a:p>
        </p:txBody>
      </p:sp>
      <p:pic>
        <p:nvPicPr>
          <p:cNvPr id="5" name="Image 0" descr="/home/claude/deck/screens/result.jpeg"/>
          <p:cNvPicPr>
            <a:picLocks noChangeAspect="1"/>
          </p:cNvPicPr>
          <p:nvPr/>
        </p:nvPicPr>
        <p:blipFill>
          <a:blip r:embed="rId3"/>
          <a:stretch>
            <a:fillRect/>
          </a:stretch>
        </p:blipFill>
        <p:spPr>
          <a:xfrm>
            <a:off x="548640" y="2775202"/>
            <a:ext cx="5417820" cy="2333049"/>
          </a:xfrm>
          <a:prstGeom prst="rect">
            <a:avLst/>
          </a:prstGeom>
        </p:spPr>
      </p:pic>
      <p:sp>
        <p:nvSpPr>
          <p:cNvPr id="6" name="Text 3"/>
          <p:cNvSpPr txBox="1"/>
          <p:nvPr/>
        </p:nvSpPr>
        <p:spPr>
          <a:xfrm>
            <a:off x="548640" y="5272842"/>
            <a:ext cx="5417820" cy="365760"/>
          </a:xfrm>
          <a:prstGeom prst="rect">
            <a:avLst/>
          </a:prstGeom>
          <a:noFill/>
          <a:ln/>
        </p:spPr>
        <p:txBody>
          <a:bodyPr wrap="square" lIns="0" tIns="0" rIns="0" bIns="0" rtlCol="0" anchor="ctr"/>
          <a:lstStyle/>
          <a:p>
            <a:pPr marL="0" indent="0" algn="ctr">
              <a:buNone/>
            </a:pPr>
            <a:r>
              <a:rPr lang="en-US" sz="1250" b="1" dirty="0">
                <a:solidFill>
                  <a:srgbClr val="028090"/>
                </a:solidFill>
                <a:latin typeface="Calibri" pitchFamily="34" charset="0"/>
                <a:ea typeface="Calibri" pitchFamily="34" charset="-122"/>
                <a:cs typeface="Calibri" pitchFamily="34" charset="-120"/>
              </a:rPr>
              <a:t>Diagnostic Evaluation Result</a:t>
            </a:r>
            <a:endParaRPr lang="en-US" sz="1250" dirty="0"/>
          </a:p>
        </p:txBody>
      </p:sp>
      <p:sp>
        <p:nvSpPr>
          <p:cNvPr id="7" name="Shape 4"/>
          <p:cNvSpPr/>
          <p:nvPr/>
        </p:nvSpPr>
        <p:spPr>
          <a:xfrm>
            <a:off x="6167628" y="1636776"/>
            <a:ext cx="5527548" cy="3526338"/>
          </a:xfrm>
          <a:prstGeom prst="roundRect">
            <a:avLst>
              <a:gd name="adj" fmla="val 1556"/>
            </a:avLst>
          </a:prstGeom>
          <a:solidFill>
            <a:srgbClr val="0E1F21"/>
          </a:solidFill>
          <a:ln w="12700">
            <a:solidFill>
              <a:srgbClr val="D9E7E6"/>
            </a:solidFill>
            <a:prstDash val="solid"/>
          </a:ln>
          <a:effectLst>
            <a:outerShdw blurRad="101600" dist="38100" dir="5400000" algn="bl" rotWithShape="0">
              <a:srgbClr val="1B2B2B">
                <a:alpha val="18000"/>
              </a:srgbClr>
            </a:outerShdw>
          </a:effectLst>
        </p:spPr>
        <p:txBody>
          <a:bodyPr/>
          <a:lstStyle/>
          <a:p>
            <a:endParaRPr lang="en-IN"/>
          </a:p>
        </p:txBody>
      </p:sp>
      <p:pic>
        <p:nvPicPr>
          <p:cNvPr id="8" name="Image 1" descr="/home/claude/deck/screens/gemini.jpeg"/>
          <p:cNvPicPr>
            <a:picLocks noChangeAspect="1"/>
          </p:cNvPicPr>
          <p:nvPr/>
        </p:nvPicPr>
        <p:blipFill>
          <a:blip r:embed="rId4"/>
          <a:stretch>
            <a:fillRect/>
          </a:stretch>
        </p:blipFill>
        <p:spPr>
          <a:xfrm>
            <a:off x="6222492" y="1691640"/>
            <a:ext cx="5417820" cy="3416610"/>
          </a:xfrm>
          <a:prstGeom prst="rect">
            <a:avLst/>
          </a:prstGeom>
        </p:spPr>
      </p:pic>
      <p:sp>
        <p:nvSpPr>
          <p:cNvPr id="9" name="Text 5"/>
          <p:cNvSpPr txBox="1"/>
          <p:nvPr/>
        </p:nvSpPr>
        <p:spPr>
          <a:xfrm>
            <a:off x="6222492" y="5272842"/>
            <a:ext cx="5417820" cy="365760"/>
          </a:xfrm>
          <a:prstGeom prst="rect">
            <a:avLst/>
          </a:prstGeom>
          <a:noFill/>
          <a:ln/>
        </p:spPr>
        <p:txBody>
          <a:bodyPr wrap="square" lIns="0" tIns="0" rIns="0" bIns="0" rtlCol="0" anchor="ctr"/>
          <a:lstStyle/>
          <a:p>
            <a:pPr marL="0" indent="0" algn="ctr">
              <a:buNone/>
            </a:pPr>
            <a:r>
              <a:rPr lang="en-US" sz="1250" b="1" dirty="0">
                <a:solidFill>
                  <a:srgbClr val="028090"/>
                </a:solidFill>
                <a:latin typeface="Calibri" pitchFamily="34" charset="0"/>
                <a:ea typeface="Calibri" pitchFamily="34" charset="-122"/>
                <a:cs typeface="Calibri" pitchFamily="34" charset="-120"/>
              </a:rPr>
              <a:t>Gemini Clinical Synthesis</a:t>
            </a:r>
            <a:endParaRPr lang="en-US" sz="1250" dirty="0"/>
          </a:p>
        </p:txBody>
      </p:sp>
      <p:sp>
        <p:nvSpPr>
          <p:cNvPr id="10" name="Text 6"/>
          <p:cNvSpPr txBox="1"/>
          <p:nvPr/>
        </p:nvSpPr>
        <p:spPr>
          <a:xfrm>
            <a:off x="548640" y="5775762"/>
            <a:ext cx="11091672" cy="457200"/>
          </a:xfrm>
          <a:prstGeom prst="rect">
            <a:avLst/>
          </a:prstGeom>
          <a:noFill/>
          <a:ln/>
        </p:spPr>
        <p:txBody>
          <a:bodyPr wrap="square" lIns="0" tIns="0" rIns="0" bIns="0" rtlCol="0" anchor="ctr"/>
          <a:lstStyle/>
          <a:p>
            <a:pPr marL="0" indent="0" algn="ctr">
              <a:buNone/>
            </a:pPr>
            <a:r>
              <a:rPr lang="en-US" sz="1150" i="1" dirty="0">
                <a:solidFill>
                  <a:srgbClr val="4E6A6C"/>
                </a:solidFill>
                <a:latin typeface="Calibri" pitchFamily="34" charset="0"/>
                <a:ea typeface="Calibri" pitchFamily="34" charset="-122"/>
                <a:cs typeface="Calibri" pitchFamily="34" charset="-120"/>
              </a:rPr>
              <a:t>The model returns a FIGO-aligned category with tri-class probabilities and feature importance; Gemini then converts that structured output into a readable clinical rationale with recommended next steps.</a:t>
            </a:r>
            <a:endParaRPr lang="en-US" sz="1150" dirty="0"/>
          </a:p>
        </p:txBody>
      </p:sp>
      <p:sp>
        <p:nvSpPr>
          <p:cNvPr id="12" name="Text 7"/>
          <p:cNvSpPr txBox="1"/>
          <p:nvPr/>
        </p:nvSpPr>
        <p:spPr>
          <a:xfrm>
            <a:off x="11548872" y="6473952"/>
            <a:ext cx="365760" cy="274320"/>
          </a:xfrm>
          <a:prstGeom prst="rect">
            <a:avLst/>
          </a:prstGeom>
          <a:noFill/>
          <a:ln/>
        </p:spPr>
        <p:txBody>
          <a:bodyPr wrap="square" lIns="0" tIns="0" rIns="0" bIns="0" rtlCol="0" anchor="ctr"/>
          <a:lstStyle/>
          <a:p>
            <a:pPr marL="0" indent="0" algn="r">
              <a:buNone/>
            </a:pPr>
            <a:r>
              <a:rPr lang="en-US" sz="1000" dirty="0">
                <a:solidFill>
                  <a:srgbClr val="4E6A6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292B"/>
        </a:solidFill>
        <a:effectLst/>
      </p:bgPr>
    </p:bg>
    <p:spTree>
      <p:nvGrpSpPr>
        <p:cNvPr id="1" name=""/>
        <p:cNvGrpSpPr/>
        <p:nvPr/>
      </p:nvGrpSpPr>
      <p:grpSpPr>
        <a:xfrm>
          <a:off x="0" y="0"/>
          <a:ext cx="0" cy="0"/>
          <a:chOff x="0" y="0"/>
          <a:chExt cx="0" cy="0"/>
        </a:xfrm>
      </p:grpSpPr>
      <p:sp>
        <p:nvSpPr>
          <p:cNvPr id="2" name="Shape 0"/>
          <p:cNvSpPr/>
          <p:nvPr/>
        </p:nvSpPr>
        <p:spPr>
          <a:xfrm>
            <a:off x="-1463040" y="-1645920"/>
            <a:ext cx="4206240" cy="4206240"/>
          </a:xfrm>
          <a:prstGeom prst="ellipse">
            <a:avLst/>
          </a:prstGeom>
          <a:solidFill>
            <a:srgbClr val="0B3639"/>
          </a:solidFill>
          <a:ln/>
        </p:spPr>
        <p:txBody>
          <a:bodyPr/>
          <a:lstStyle/>
          <a:p>
            <a:endParaRPr lang="en-IN"/>
          </a:p>
        </p:txBody>
      </p:sp>
      <p:sp>
        <p:nvSpPr>
          <p:cNvPr id="3" name="Text 1"/>
          <p:cNvSpPr txBox="1"/>
          <p:nvPr/>
        </p:nvSpPr>
        <p:spPr>
          <a:xfrm>
            <a:off x="548640" y="365760"/>
            <a:ext cx="11091672" cy="68580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Results, Limitations &amp; Future Scope</a:t>
            </a:r>
            <a:endParaRPr lang="en-US" sz="3000" dirty="0"/>
          </a:p>
        </p:txBody>
      </p:sp>
      <p:sp>
        <p:nvSpPr>
          <p:cNvPr id="4" name="Text 2"/>
          <p:cNvSpPr txBox="1"/>
          <p:nvPr/>
        </p:nvSpPr>
        <p:spPr>
          <a:xfrm>
            <a:off x="548640" y="987552"/>
            <a:ext cx="11091672" cy="365760"/>
          </a:xfrm>
          <a:prstGeom prst="rect">
            <a:avLst/>
          </a:prstGeom>
          <a:noFill/>
          <a:ln/>
        </p:spPr>
        <p:txBody>
          <a:bodyPr wrap="square" lIns="0" tIns="0" rIns="0" bIns="0" rtlCol="0" anchor="ctr"/>
          <a:lstStyle/>
          <a:p>
            <a:pPr marL="0" indent="0" algn="l">
              <a:buNone/>
            </a:pPr>
            <a:r>
              <a:rPr lang="en-US" sz="1300" i="1" dirty="0">
                <a:solidFill>
                  <a:srgbClr val="BFE3E0"/>
                </a:solidFill>
                <a:latin typeface="Calibri" pitchFamily="34" charset="0"/>
                <a:ea typeface="Calibri" pitchFamily="34" charset="-122"/>
                <a:cs typeface="Calibri" pitchFamily="34" charset="-120"/>
              </a:rPr>
              <a:t>Where the system stands today, its honest boundaries, and where it could go next</a:t>
            </a:r>
            <a:endParaRPr lang="en-US" sz="1300" dirty="0"/>
          </a:p>
        </p:txBody>
      </p:sp>
      <p:sp>
        <p:nvSpPr>
          <p:cNvPr id="5" name="Shape 3"/>
          <p:cNvSpPr/>
          <p:nvPr/>
        </p:nvSpPr>
        <p:spPr>
          <a:xfrm>
            <a:off x="548640" y="1600200"/>
            <a:ext cx="3611880" cy="4160520"/>
          </a:xfrm>
          <a:prstGeom prst="roundRect">
            <a:avLst>
              <a:gd name="adj" fmla="val 2025"/>
            </a:avLst>
          </a:prstGeom>
          <a:solidFill>
            <a:srgbClr val="0B3639"/>
          </a:solidFill>
          <a:ln/>
        </p:spPr>
        <p:txBody>
          <a:bodyPr/>
          <a:lstStyle/>
          <a:p>
            <a:endParaRPr lang="en-IN"/>
          </a:p>
        </p:txBody>
      </p:sp>
      <p:sp>
        <p:nvSpPr>
          <p:cNvPr id="6" name="Shape 4"/>
          <p:cNvSpPr/>
          <p:nvPr/>
        </p:nvSpPr>
        <p:spPr>
          <a:xfrm>
            <a:off x="777240" y="1856232"/>
            <a:ext cx="502920" cy="502920"/>
          </a:xfrm>
          <a:prstGeom prst="ellipse">
            <a:avLst/>
          </a:prstGeom>
          <a:solidFill>
            <a:srgbClr val="02C39A"/>
          </a:solidFill>
          <a:ln/>
        </p:spPr>
        <p:txBody>
          <a:bodyPr/>
          <a:lstStyle/>
          <a:p>
            <a:endParaRPr lang="en-IN"/>
          </a:p>
        </p:txBody>
      </p:sp>
      <p:pic>
        <p:nvPicPr>
          <p:cNvPr id="7" name="Image 0" descr="/home/claude/deck/icons/chartline.png"/>
          <p:cNvPicPr>
            <a:picLocks noChangeAspect="1"/>
          </p:cNvPicPr>
          <p:nvPr/>
        </p:nvPicPr>
        <p:blipFill>
          <a:blip r:embed="rId3"/>
          <a:stretch>
            <a:fillRect/>
          </a:stretch>
        </p:blipFill>
        <p:spPr>
          <a:xfrm>
            <a:off x="890397" y="1969389"/>
            <a:ext cx="276606" cy="276606"/>
          </a:xfrm>
          <a:prstGeom prst="rect">
            <a:avLst/>
          </a:prstGeom>
        </p:spPr>
      </p:pic>
      <p:sp>
        <p:nvSpPr>
          <p:cNvPr id="8" name="Text 5"/>
          <p:cNvSpPr txBox="1"/>
          <p:nvPr/>
        </p:nvSpPr>
        <p:spPr>
          <a:xfrm>
            <a:off x="1417320" y="1856232"/>
            <a:ext cx="2606040" cy="5029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Results</a:t>
            </a:r>
            <a:endParaRPr lang="en-US" sz="1500" dirty="0"/>
          </a:p>
        </p:txBody>
      </p:sp>
      <p:sp>
        <p:nvSpPr>
          <p:cNvPr id="9" name="Text 6"/>
          <p:cNvSpPr txBox="1"/>
          <p:nvPr/>
        </p:nvSpPr>
        <p:spPr>
          <a:xfrm>
            <a:off x="804672" y="2560320"/>
            <a:ext cx="3108960" cy="3063240"/>
          </a:xfrm>
          <a:prstGeom prst="rect">
            <a:avLst/>
          </a:prstGeom>
          <a:noFill/>
          <a:ln/>
        </p:spPr>
        <p:txBody>
          <a:bodyPr wrap="square" lIns="0" tIns="0" rIns="0" bIns="0" rtlCol="0" anchor="t"/>
          <a:lstStyle/>
          <a:p>
            <a:pPr marL="177800" indent="-177800">
              <a:spcAft>
                <a:spcPts val="1000"/>
              </a:spcAft>
              <a:buSzPct val="100000"/>
              <a:buChar char="•"/>
            </a:pPr>
            <a:r>
              <a:rPr lang="en-US" sz="1100" dirty="0">
                <a:solidFill>
                  <a:srgbClr val="BFE3E0"/>
                </a:solidFill>
                <a:latin typeface="Calibri" pitchFamily="34" charset="0"/>
                <a:ea typeface="Calibri" pitchFamily="34" charset="-122"/>
                <a:cs typeface="Calibri" pitchFamily="34" charset="-120"/>
              </a:rPr>
              <a:t>Model performance evaluated with accuracy, precision, recall, F1-score, and a confusion matrix across the three classes</a:t>
            </a:r>
            <a:endParaRPr lang="en-US" sz="1100" dirty="0"/>
          </a:p>
          <a:p>
            <a:pPr marL="177800" indent="-177800">
              <a:spcAft>
                <a:spcPts val="1000"/>
              </a:spcAft>
              <a:buSzPct val="100000"/>
              <a:buChar char="•"/>
            </a:pPr>
            <a:r>
              <a:rPr lang="en-US" sz="1100" dirty="0">
                <a:solidFill>
                  <a:srgbClr val="BFE3E0"/>
                </a:solidFill>
                <a:latin typeface="Calibri" pitchFamily="34" charset="0"/>
                <a:ea typeface="Calibri" pitchFamily="34" charset="-122"/>
                <a:cs typeface="Calibri" pitchFamily="34" charset="-120"/>
              </a:rPr>
              <a:t>Random Forest-style models expose feature importance for explainability</a:t>
            </a:r>
            <a:endParaRPr lang="en-US" sz="1100" dirty="0"/>
          </a:p>
          <a:p>
            <a:pPr marL="177800" indent="-177800">
              <a:spcAft>
                <a:spcPts val="1000"/>
              </a:spcAft>
              <a:buSzPct val="100000"/>
              <a:buChar char="•"/>
            </a:pPr>
            <a:r>
              <a:rPr lang="en-US" sz="1100" dirty="0">
                <a:solidFill>
                  <a:srgbClr val="BFE3E0"/>
                </a:solidFill>
                <a:latin typeface="Calibri" pitchFamily="34" charset="0"/>
                <a:ea typeface="Calibri" pitchFamily="34" charset="-122"/>
                <a:cs typeface="Calibri" pitchFamily="34" charset="-120"/>
              </a:rPr>
              <a:t>End-to-end flow verified: login → assessment → prediction → GenAI explanation → PDF report</a:t>
            </a:r>
            <a:endParaRPr lang="en-US" sz="1100" dirty="0"/>
          </a:p>
        </p:txBody>
      </p:sp>
      <p:sp>
        <p:nvSpPr>
          <p:cNvPr id="10" name="Shape 7"/>
          <p:cNvSpPr/>
          <p:nvPr/>
        </p:nvSpPr>
        <p:spPr>
          <a:xfrm>
            <a:off x="4343400" y="1600200"/>
            <a:ext cx="3611880" cy="4160520"/>
          </a:xfrm>
          <a:prstGeom prst="roundRect">
            <a:avLst>
              <a:gd name="adj" fmla="val 2025"/>
            </a:avLst>
          </a:prstGeom>
          <a:solidFill>
            <a:srgbClr val="0B3639"/>
          </a:solidFill>
          <a:ln/>
        </p:spPr>
        <p:txBody>
          <a:bodyPr/>
          <a:lstStyle/>
          <a:p>
            <a:endParaRPr lang="en-IN"/>
          </a:p>
        </p:txBody>
      </p:sp>
      <p:sp>
        <p:nvSpPr>
          <p:cNvPr id="11" name="Shape 8"/>
          <p:cNvSpPr/>
          <p:nvPr/>
        </p:nvSpPr>
        <p:spPr>
          <a:xfrm>
            <a:off x="4572000" y="1856232"/>
            <a:ext cx="502920" cy="502920"/>
          </a:xfrm>
          <a:prstGeom prst="ellipse">
            <a:avLst/>
          </a:prstGeom>
          <a:solidFill>
            <a:srgbClr val="E8A33D"/>
          </a:solidFill>
          <a:ln/>
        </p:spPr>
        <p:txBody>
          <a:bodyPr/>
          <a:lstStyle/>
          <a:p>
            <a:endParaRPr lang="en-IN"/>
          </a:p>
        </p:txBody>
      </p:sp>
      <p:pic>
        <p:nvPicPr>
          <p:cNvPr id="12" name="Image 1" descr="/home/claude/deck/icons/warning.png"/>
          <p:cNvPicPr>
            <a:picLocks noChangeAspect="1"/>
          </p:cNvPicPr>
          <p:nvPr/>
        </p:nvPicPr>
        <p:blipFill>
          <a:blip r:embed="rId4"/>
          <a:stretch>
            <a:fillRect/>
          </a:stretch>
        </p:blipFill>
        <p:spPr>
          <a:xfrm>
            <a:off x="4685157" y="1969389"/>
            <a:ext cx="276606" cy="276606"/>
          </a:xfrm>
          <a:prstGeom prst="rect">
            <a:avLst/>
          </a:prstGeom>
        </p:spPr>
      </p:pic>
      <p:sp>
        <p:nvSpPr>
          <p:cNvPr id="13" name="Text 9"/>
          <p:cNvSpPr txBox="1"/>
          <p:nvPr/>
        </p:nvSpPr>
        <p:spPr>
          <a:xfrm>
            <a:off x="5212080" y="1856232"/>
            <a:ext cx="2606040" cy="5029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Limitations</a:t>
            </a:r>
            <a:endParaRPr lang="en-US" sz="1500" dirty="0"/>
          </a:p>
        </p:txBody>
      </p:sp>
      <p:sp>
        <p:nvSpPr>
          <p:cNvPr id="14" name="Text 10"/>
          <p:cNvSpPr txBox="1"/>
          <p:nvPr/>
        </p:nvSpPr>
        <p:spPr>
          <a:xfrm>
            <a:off x="4599432" y="2560320"/>
            <a:ext cx="3108960" cy="3063240"/>
          </a:xfrm>
          <a:prstGeom prst="rect">
            <a:avLst/>
          </a:prstGeom>
          <a:noFill/>
          <a:ln/>
        </p:spPr>
        <p:txBody>
          <a:bodyPr wrap="square" lIns="0" tIns="0" rIns="0" bIns="0" rtlCol="0" anchor="t"/>
          <a:lstStyle/>
          <a:p>
            <a:pPr marL="177800" indent="-177800">
              <a:spcAft>
                <a:spcPts val="1000"/>
              </a:spcAft>
              <a:buSzPct val="100000"/>
              <a:buChar char="•"/>
            </a:pPr>
            <a:r>
              <a:rPr lang="en-US" sz="1100" dirty="0">
                <a:solidFill>
                  <a:srgbClr val="BFE3E0"/>
                </a:solidFill>
                <a:latin typeface="Calibri" pitchFamily="34" charset="0"/>
                <a:ea typeface="Calibri" pitchFamily="34" charset="-122"/>
                <a:cs typeface="Calibri" pitchFamily="34" charset="-120"/>
              </a:rPr>
              <a:t>Trained on a public dataset — may not generalize to every real-world population</a:t>
            </a:r>
            <a:endParaRPr lang="en-US" sz="1100" dirty="0"/>
          </a:p>
          <a:p>
            <a:pPr marL="177800" indent="-177800">
              <a:spcAft>
                <a:spcPts val="1000"/>
              </a:spcAft>
              <a:buSzPct val="100000"/>
              <a:buChar char="•"/>
            </a:pPr>
            <a:r>
              <a:rPr lang="en-US" sz="1100" dirty="0">
                <a:solidFill>
                  <a:srgbClr val="BFE3E0"/>
                </a:solidFill>
                <a:latin typeface="Calibri" pitchFamily="34" charset="0"/>
                <a:ea typeface="Calibri" pitchFamily="34" charset="-122"/>
                <a:cs typeface="Calibri" pitchFamily="34" charset="-120"/>
              </a:rPr>
              <a:t>Not clinically validated; predictions depend on input data quality</a:t>
            </a:r>
            <a:endParaRPr lang="en-US" sz="1100" dirty="0"/>
          </a:p>
          <a:p>
            <a:pPr marL="177800" indent="-177800">
              <a:spcAft>
                <a:spcPts val="1000"/>
              </a:spcAft>
              <a:buSzPct val="100000"/>
              <a:buChar char="•"/>
            </a:pPr>
            <a:r>
              <a:rPr lang="en-US" sz="1100" dirty="0">
                <a:solidFill>
                  <a:srgbClr val="BFE3E0"/>
                </a:solidFill>
                <a:latin typeface="Calibri" pitchFamily="34" charset="0"/>
                <a:ea typeface="Calibri" pitchFamily="34" charset="-122"/>
                <a:cs typeface="Calibri" pitchFamily="34" charset="-120"/>
              </a:rPr>
              <a:t>Generative AI explanations may contain inaccuracies and are not clinical advice</a:t>
            </a:r>
            <a:endParaRPr lang="en-US" sz="1100" dirty="0"/>
          </a:p>
        </p:txBody>
      </p:sp>
      <p:sp>
        <p:nvSpPr>
          <p:cNvPr id="15" name="Shape 11"/>
          <p:cNvSpPr/>
          <p:nvPr/>
        </p:nvSpPr>
        <p:spPr>
          <a:xfrm>
            <a:off x="8138160" y="1600200"/>
            <a:ext cx="3611880" cy="4160520"/>
          </a:xfrm>
          <a:prstGeom prst="roundRect">
            <a:avLst>
              <a:gd name="adj" fmla="val 2025"/>
            </a:avLst>
          </a:prstGeom>
          <a:solidFill>
            <a:srgbClr val="0B3639"/>
          </a:solidFill>
          <a:ln/>
        </p:spPr>
        <p:txBody>
          <a:bodyPr/>
          <a:lstStyle/>
          <a:p>
            <a:endParaRPr lang="en-IN"/>
          </a:p>
        </p:txBody>
      </p:sp>
      <p:sp>
        <p:nvSpPr>
          <p:cNvPr id="16" name="Shape 12"/>
          <p:cNvSpPr/>
          <p:nvPr/>
        </p:nvSpPr>
        <p:spPr>
          <a:xfrm>
            <a:off x="8366760" y="1856232"/>
            <a:ext cx="502920" cy="502920"/>
          </a:xfrm>
          <a:prstGeom prst="ellipse">
            <a:avLst/>
          </a:prstGeom>
          <a:solidFill>
            <a:srgbClr val="00A896"/>
          </a:solidFill>
          <a:ln/>
        </p:spPr>
        <p:txBody>
          <a:bodyPr/>
          <a:lstStyle/>
          <a:p>
            <a:endParaRPr lang="en-IN"/>
          </a:p>
        </p:txBody>
      </p:sp>
      <p:pic>
        <p:nvPicPr>
          <p:cNvPr id="17" name="Image 2" descr="/home/claude/deck/icons/rocket.png"/>
          <p:cNvPicPr>
            <a:picLocks noChangeAspect="1"/>
          </p:cNvPicPr>
          <p:nvPr/>
        </p:nvPicPr>
        <p:blipFill>
          <a:blip r:embed="rId5"/>
          <a:stretch>
            <a:fillRect/>
          </a:stretch>
        </p:blipFill>
        <p:spPr>
          <a:xfrm>
            <a:off x="8479917" y="1969389"/>
            <a:ext cx="276606" cy="276606"/>
          </a:xfrm>
          <a:prstGeom prst="rect">
            <a:avLst/>
          </a:prstGeom>
        </p:spPr>
      </p:pic>
      <p:sp>
        <p:nvSpPr>
          <p:cNvPr id="18" name="Text 13"/>
          <p:cNvSpPr txBox="1"/>
          <p:nvPr/>
        </p:nvSpPr>
        <p:spPr>
          <a:xfrm>
            <a:off x="9006840" y="1856232"/>
            <a:ext cx="2606040" cy="5029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Future Scope</a:t>
            </a:r>
            <a:endParaRPr lang="en-US" sz="1500" dirty="0"/>
          </a:p>
        </p:txBody>
      </p:sp>
      <p:sp>
        <p:nvSpPr>
          <p:cNvPr id="19" name="Text 14"/>
          <p:cNvSpPr txBox="1"/>
          <p:nvPr/>
        </p:nvSpPr>
        <p:spPr>
          <a:xfrm>
            <a:off x="8394192" y="2560320"/>
            <a:ext cx="3108960" cy="3063240"/>
          </a:xfrm>
          <a:prstGeom prst="rect">
            <a:avLst/>
          </a:prstGeom>
          <a:noFill/>
          <a:ln/>
        </p:spPr>
        <p:txBody>
          <a:bodyPr wrap="square" lIns="0" tIns="0" rIns="0" bIns="0" rtlCol="0" anchor="t"/>
          <a:lstStyle/>
          <a:p>
            <a:pPr marL="177800" indent="-177800">
              <a:spcAft>
                <a:spcPts val="1000"/>
              </a:spcAft>
              <a:buSzPct val="100000"/>
              <a:buChar char="•"/>
            </a:pPr>
            <a:r>
              <a:rPr lang="en-US" sz="1100" dirty="0">
                <a:solidFill>
                  <a:srgbClr val="BFE3E0"/>
                </a:solidFill>
                <a:latin typeface="Calibri" pitchFamily="34" charset="0"/>
                <a:ea typeface="Calibri" pitchFamily="34" charset="-122"/>
                <a:cs typeface="Calibri" pitchFamily="34" charset="-120"/>
              </a:rPr>
              <a:t>Real-time CTG monitoring with device integration</a:t>
            </a:r>
            <a:endParaRPr lang="en-US" sz="1100" dirty="0"/>
          </a:p>
          <a:p>
            <a:pPr marL="177800" indent="-177800">
              <a:spcAft>
                <a:spcPts val="1000"/>
              </a:spcAft>
              <a:buSzPct val="100000"/>
              <a:buChar char="•"/>
            </a:pPr>
            <a:r>
              <a:rPr lang="en-US" sz="1100" dirty="0">
                <a:solidFill>
                  <a:srgbClr val="BFE3E0"/>
                </a:solidFill>
                <a:latin typeface="Calibri" pitchFamily="34" charset="0"/>
                <a:ea typeface="Calibri" pitchFamily="34" charset="-122"/>
                <a:cs typeface="Calibri" pitchFamily="34" charset="-120"/>
              </a:rPr>
              <a:t>Deep Learning on raw CTG signals; SHAP/LIME explainability</a:t>
            </a:r>
            <a:endParaRPr lang="en-US" sz="1100" dirty="0"/>
          </a:p>
          <a:p>
            <a:pPr marL="177800" indent="-177800">
              <a:spcAft>
                <a:spcPts val="1000"/>
              </a:spcAft>
              <a:buSzPct val="100000"/>
              <a:buChar char="•"/>
            </a:pPr>
            <a:r>
              <a:rPr lang="en-US" sz="1100" dirty="0">
                <a:solidFill>
                  <a:srgbClr val="BFE3E0"/>
                </a:solidFill>
                <a:latin typeface="Calibri" pitchFamily="34" charset="0"/>
                <a:ea typeface="Calibri" pitchFamily="34" charset="-122"/>
                <a:cs typeface="Calibri" pitchFamily="34" charset="-120"/>
              </a:rPr>
              <a:t>Mobile app, real-time alerts, and hospital system integration</a:t>
            </a:r>
            <a:endParaRPr lang="en-US" sz="1100" dirty="0"/>
          </a:p>
        </p:txBody>
      </p:sp>
      <p:sp>
        <p:nvSpPr>
          <p:cNvPr id="20" name="Text 15"/>
          <p:cNvSpPr txBox="1"/>
          <p:nvPr/>
        </p:nvSpPr>
        <p:spPr>
          <a:xfrm>
            <a:off x="548640" y="5897880"/>
            <a:ext cx="11091672" cy="502920"/>
          </a:xfrm>
          <a:prstGeom prst="rect">
            <a:avLst/>
          </a:prstGeom>
          <a:noFill/>
          <a:ln/>
        </p:spPr>
        <p:txBody>
          <a:bodyPr wrap="square" lIns="0" tIns="0" rIns="0" bIns="0" rtlCol="0" anchor="t"/>
          <a:lstStyle/>
          <a:p>
            <a:pPr marL="0" indent="0" algn="ctr">
              <a:buNone/>
            </a:pPr>
            <a:r>
              <a:rPr lang="en-US" sz="1050" i="1" dirty="0">
                <a:solidFill>
                  <a:srgbClr val="BFE3E0"/>
                </a:solidFill>
                <a:latin typeface="Calibri" pitchFamily="34" charset="0"/>
                <a:ea typeface="Calibri" pitchFamily="34" charset="-122"/>
                <a:cs typeface="Calibri" pitchFamily="34" charset="-120"/>
              </a:rPr>
              <a:t>Academic prototype: the ML output is a pattern-based classification, not a clinical diagnosis, and the Generative AI explanation must not replace professional medical evaluation.</a:t>
            </a:r>
            <a:endParaRPr lang="en-US" sz="1050" dirty="0"/>
          </a:p>
        </p:txBody>
      </p:sp>
      <p:sp>
        <p:nvSpPr>
          <p:cNvPr id="22" name="Text 16"/>
          <p:cNvSpPr txBox="1"/>
          <p:nvPr/>
        </p:nvSpPr>
        <p:spPr>
          <a:xfrm>
            <a:off x="11548872" y="6473952"/>
            <a:ext cx="365760" cy="274320"/>
          </a:xfrm>
          <a:prstGeom prst="rect">
            <a:avLst/>
          </a:prstGeom>
          <a:noFill/>
          <a:ln/>
        </p:spPr>
        <p:txBody>
          <a:bodyPr wrap="square" lIns="0" tIns="0" rIns="0" bIns="0" rtlCol="0" anchor="ctr"/>
          <a:lstStyle/>
          <a:p>
            <a:pPr marL="0" indent="0" algn="r">
              <a:buNone/>
            </a:pPr>
            <a:r>
              <a:rPr lang="en-US" sz="1000" dirty="0">
                <a:solidFill>
                  <a:srgbClr val="BFE3E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292B"/>
        </a:solidFill>
        <a:effectLst/>
      </p:bgPr>
    </p:bg>
    <p:spTree>
      <p:nvGrpSpPr>
        <p:cNvPr id="1" name=""/>
        <p:cNvGrpSpPr/>
        <p:nvPr/>
      </p:nvGrpSpPr>
      <p:grpSpPr>
        <a:xfrm>
          <a:off x="0" y="0"/>
          <a:ext cx="0" cy="0"/>
          <a:chOff x="0" y="0"/>
          <a:chExt cx="0" cy="0"/>
        </a:xfrm>
      </p:grpSpPr>
      <p:sp>
        <p:nvSpPr>
          <p:cNvPr id="2" name="Shape 0"/>
          <p:cNvSpPr/>
          <p:nvPr/>
        </p:nvSpPr>
        <p:spPr>
          <a:xfrm>
            <a:off x="8778240" y="-1463040"/>
            <a:ext cx="4754880" cy="4754880"/>
          </a:xfrm>
          <a:prstGeom prst="ellipse">
            <a:avLst/>
          </a:prstGeom>
          <a:solidFill>
            <a:srgbClr val="0B3639"/>
          </a:solidFill>
          <a:ln/>
        </p:spPr>
        <p:txBody>
          <a:bodyPr/>
          <a:lstStyle/>
          <a:p>
            <a:endParaRPr lang="en-IN"/>
          </a:p>
        </p:txBody>
      </p:sp>
      <p:sp>
        <p:nvSpPr>
          <p:cNvPr id="3" name="Shape 1"/>
          <p:cNvSpPr/>
          <p:nvPr/>
        </p:nvSpPr>
        <p:spPr>
          <a:xfrm>
            <a:off x="-1280160" y="5120640"/>
            <a:ext cx="3291840" cy="3291840"/>
          </a:xfrm>
          <a:prstGeom prst="ellipse">
            <a:avLst/>
          </a:prstGeom>
          <a:solidFill>
            <a:srgbClr val="0B3639"/>
          </a:solidFill>
          <a:ln/>
        </p:spPr>
        <p:txBody>
          <a:bodyPr/>
          <a:lstStyle/>
          <a:p>
            <a:endParaRPr lang="en-IN"/>
          </a:p>
        </p:txBody>
      </p:sp>
      <p:sp>
        <p:nvSpPr>
          <p:cNvPr id="4" name="Shape 2"/>
          <p:cNvSpPr/>
          <p:nvPr/>
        </p:nvSpPr>
        <p:spPr>
          <a:xfrm>
            <a:off x="5591556" y="1417320"/>
            <a:ext cx="1005840" cy="1005840"/>
          </a:xfrm>
          <a:prstGeom prst="ellipse">
            <a:avLst/>
          </a:prstGeom>
          <a:solidFill>
            <a:srgbClr val="FF0000"/>
          </a:solidFill>
          <a:ln/>
        </p:spPr>
        <p:txBody>
          <a:bodyPr/>
          <a:lstStyle/>
          <a:p>
            <a:endParaRPr lang="en-IN"/>
          </a:p>
        </p:txBody>
      </p:sp>
      <p:pic>
        <p:nvPicPr>
          <p:cNvPr id="5" name="Image 0" descr="/home/claude/deck/icons/heartbeat.png"/>
          <p:cNvPicPr>
            <a:picLocks noChangeAspect="1"/>
          </p:cNvPicPr>
          <p:nvPr/>
        </p:nvPicPr>
        <p:blipFill>
          <a:blip r:embed="rId3"/>
          <a:stretch>
            <a:fillRect/>
          </a:stretch>
        </p:blipFill>
        <p:spPr>
          <a:xfrm>
            <a:off x="5817870" y="1643634"/>
            <a:ext cx="553212" cy="553212"/>
          </a:xfrm>
          <a:prstGeom prst="rect">
            <a:avLst/>
          </a:prstGeom>
        </p:spPr>
      </p:pic>
      <p:sp>
        <p:nvSpPr>
          <p:cNvPr id="6" name="Text 3"/>
          <p:cNvSpPr txBox="1"/>
          <p:nvPr/>
        </p:nvSpPr>
        <p:spPr>
          <a:xfrm>
            <a:off x="731520" y="2697480"/>
            <a:ext cx="10725912"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7" name="Text 4"/>
          <p:cNvSpPr txBox="1"/>
          <p:nvPr/>
        </p:nvSpPr>
        <p:spPr>
          <a:xfrm>
            <a:off x="1097280" y="3520440"/>
            <a:ext cx="9994392" cy="411480"/>
          </a:xfrm>
          <a:prstGeom prst="rect">
            <a:avLst/>
          </a:prstGeom>
          <a:noFill/>
          <a:ln/>
        </p:spPr>
        <p:txBody>
          <a:bodyPr wrap="square" lIns="0" tIns="0" rIns="0" bIns="0" rtlCol="0" anchor="ctr"/>
          <a:lstStyle/>
          <a:p>
            <a:pPr marL="0" indent="0" algn="ctr">
              <a:buNone/>
            </a:pPr>
            <a:r>
              <a:rPr lang="en-US" sz="1500" i="1" dirty="0">
                <a:solidFill>
                  <a:srgbClr val="02C39A"/>
                </a:solidFill>
                <a:latin typeface="Calibri" pitchFamily="34" charset="0"/>
                <a:ea typeface="Calibri" pitchFamily="34" charset="-122"/>
                <a:cs typeface="Calibri" pitchFamily="34" charset="-120"/>
              </a:rPr>
              <a:t>AI-Based Fetal Health Monitoring &amp; Risk Prediction System</a:t>
            </a:r>
            <a:endParaRPr lang="en-US" sz="1500" dirty="0"/>
          </a:p>
        </p:txBody>
      </p:sp>
      <p:sp>
        <p:nvSpPr>
          <p:cNvPr id="8" name="Text 5"/>
          <p:cNvSpPr txBox="1"/>
          <p:nvPr/>
        </p:nvSpPr>
        <p:spPr>
          <a:xfrm>
            <a:off x="1097280" y="4114800"/>
            <a:ext cx="9994392" cy="365760"/>
          </a:xfrm>
          <a:prstGeom prst="rect">
            <a:avLst/>
          </a:prstGeom>
          <a:noFill/>
          <a:ln/>
        </p:spPr>
        <p:txBody>
          <a:bodyPr wrap="square" lIns="0" tIns="0" rIns="0" bIns="0" rtlCol="0" anchor="ctr"/>
          <a:lstStyle/>
          <a:p>
            <a:pPr marL="0" indent="0" algn="ctr">
              <a:buNone/>
            </a:pPr>
            <a:r>
              <a:rPr lang="en-US" sz="1300" dirty="0">
                <a:solidFill>
                  <a:srgbClr val="BFE3E0"/>
                </a:solidFill>
                <a:latin typeface="Calibri" pitchFamily="34" charset="0"/>
                <a:ea typeface="Calibri" pitchFamily="34" charset="-122"/>
                <a:cs typeface="Calibri" pitchFamily="34" charset="-120"/>
              </a:rPr>
              <a:t>Questions &amp; Discussion</a:t>
            </a:r>
            <a:endParaRPr lang="en-US" sz="1300" dirty="0"/>
          </a:p>
        </p:txBody>
      </p:sp>
      <p:sp>
        <p:nvSpPr>
          <p:cNvPr id="9" name="Text 6"/>
          <p:cNvSpPr txBox="1"/>
          <p:nvPr/>
        </p:nvSpPr>
        <p:spPr>
          <a:xfrm>
            <a:off x="731520" y="6263640"/>
            <a:ext cx="10725912" cy="320040"/>
          </a:xfrm>
          <a:prstGeom prst="rect">
            <a:avLst/>
          </a:prstGeom>
          <a:noFill/>
          <a:ln/>
        </p:spPr>
        <p:txBody>
          <a:bodyPr wrap="square" lIns="0" tIns="0" rIns="0" bIns="0" rtlCol="0" anchor="ctr"/>
          <a:lstStyle/>
          <a:p>
            <a:pPr marL="0" indent="0" algn="ctr">
              <a:buNone/>
            </a:pPr>
            <a:r>
              <a:rPr lang="en-US" sz="1100" dirty="0">
                <a:solidFill>
                  <a:srgbClr val="BFE3E0"/>
                </a:solidFill>
                <a:latin typeface="Calibri" pitchFamily="34" charset="0"/>
                <a:ea typeface="Calibri" pitchFamily="34" charset="-122"/>
                <a:cs typeface="Calibri" pitchFamily="34" charset="-120"/>
              </a:rPr>
              <a:t>Major Project  •  B.Tech Computer Science</a:t>
            </a:r>
            <a:endParaRPr lang="en-US" sz="1100" dirty="0"/>
          </a:p>
        </p:txBody>
      </p:sp>
      <p:sp>
        <p:nvSpPr>
          <p:cNvPr id="11" name="Text 7"/>
          <p:cNvSpPr txBox="1"/>
          <p:nvPr/>
        </p:nvSpPr>
        <p:spPr>
          <a:xfrm>
            <a:off x="11548872" y="6473952"/>
            <a:ext cx="365760" cy="274320"/>
          </a:xfrm>
          <a:prstGeom prst="rect">
            <a:avLst/>
          </a:prstGeom>
          <a:noFill/>
          <a:ln/>
        </p:spPr>
        <p:txBody>
          <a:bodyPr wrap="square" lIns="0" tIns="0" rIns="0" bIns="0" rtlCol="0" anchor="ctr"/>
          <a:lstStyle/>
          <a:p>
            <a:pPr marL="0" indent="0" algn="r">
              <a:buNone/>
            </a:pPr>
            <a:r>
              <a:rPr lang="en-US" sz="1000" dirty="0">
                <a:solidFill>
                  <a:srgbClr val="BFE3E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2209</Words>
  <Application>Microsoft Office PowerPoint</Application>
  <PresentationFormat>Widescreen</PresentationFormat>
  <Paragraphs>195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Sahil Saurav</cp:lastModifiedBy>
  <cp:revision>2</cp:revision>
  <dcterms:created xsi:type="dcterms:W3CDTF">2026-09-15T20:43:14Z</dcterms:created>
  <dcterms:modified xsi:type="dcterms:W3CDTF">2026-09-15T20:48:44Z</dcterms:modified>
</cp:coreProperties>
</file>